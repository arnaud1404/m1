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793D81CF-94F2-401A-BA57-92F5A7B2D0C5}">
  <a:tblStyle styleId="{793D81CF-94F2-401A-BA57-92F5A7B2D0C5}" styleName="Medium Style 1">
    <a:wholeTbl>
      <a:tcTxStyle>
        <a:fontRef idx="minor">
          <a:srgbClr val="000000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band2V>
      <a:tcStyle>
        <a:tcBdr/>
        <a:fill>
          <a:solidFill>
            <a:schemeClr val="dk1">
              <a:tint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50800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1" d="47"/>
          <a:sy n="101" d="112"/>
        </p:scale>
        <p:origin x="101" y="115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252797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12864292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35DE62C-5220-46EA-9BE3-B45DB196C1A3}" type="datetimeFigureOut">
              <a:rPr/>
              <a:t>3/28/2026</a:t>
            </a:fld>
            <a:endParaRPr lang="fr-FR"/>
          </a:p>
        </p:txBody>
      </p:sp>
      <p:sp>
        <p:nvSpPr>
          <p:cNvPr id="105162375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466521609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817378717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834863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D9F3D29-5E90-42D2-A1A8-ECEBBDEB87CD}" type="slidenum">
              <a:r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0B6E6F-05FC-F686-AB07-F9150618EB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205019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76877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Calibri,Sans-Serif"/>
              <a:buChar char="-"/>
              <a:defRPr/>
            </a:pPr>
            <a:endParaRPr lang="en-US"/>
          </a:p>
        </p:txBody>
      </p:sp>
      <p:sp>
        <p:nvSpPr>
          <p:cNvPr id="160155415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D9F3D29-5E90-42D2-A1A8-ECEBBDEB87CD}" type="slidenum">
              <a:r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45699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958486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85750" indent="-285750">
              <a:buFont typeface="Calibri,Sans-Serif"/>
              <a:buChar char="-"/>
              <a:defRPr/>
            </a:pPr>
            <a:endParaRPr lang="en-US" b="1">
              <a:ea typeface="Calibri"/>
              <a:cs typeface="Calibri"/>
            </a:endParaRPr>
          </a:p>
          <a:p>
            <a:pPr>
              <a:buFont typeface="Calibri,Sans-Serif"/>
              <a:buChar char="-"/>
              <a:defRPr/>
            </a:pPr>
            <a:endParaRPr lang="en-US"/>
          </a:p>
        </p:txBody>
      </p:sp>
      <p:sp>
        <p:nvSpPr>
          <p:cNvPr id="140522717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D9F3D29-5E90-42D2-A1A8-ECEBBDEB87CD}" type="slidenum">
              <a:r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439877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6795849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85750" indent="-285750">
              <a:buFont typeface="Calibri,Sans-Serif"/>
              <a:buChar char="-"/>
              <a:defRPr/>
            </a:pPr>
            <a:endParaRPr lang="en-US" b="1">
              <a:ea typeface="Calibri"/>
              <a:cs typeface="Calibri"/>
            </a:endParaRPr>
          </a:p>
        </p:txBody>
      </p:sp>
      <p:sp>
        <p:nvSpPr>
          <p:cNvPr id="1236811047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D9F3D29-5E90-42D2-A1A8-ECEBBDEB87CD}" type="slidenum">
              <a:r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420717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593637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85750" indent="-285750">
              <a:buFont typeface="Calibri,Sans-Serif"/>
              <a:buChar char="-"/>
              <a:defRPr/>
            </a:pPr>
            <a:endParaRPr lang="en-US" b="1">
              <a:ea typeface="Calibri"/>
              <a:cs typeface="Calibri"/>
            </a:endParaRPr>
          </a:p>
        </p:txBody>
      </p:sp>
      <p:sp>
        <p:nvSpPr>
          <p:cNvPr id="6101954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D9F3D29-5E90-42D2-A1A8-ECEBBDEB87CD}" type="slidenum">
              <a:rPr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539536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6483531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85750" indent="-285750">
              <a:buFont typeface="Calibri,Sans-Serif"/>
              <a:buChar char="-"/>
              <a:defRPr/>
            </a:pPr>
            <a:endParaRPr lang="en-US" b="1">
              <a:ea typeface="Calibri"/>
              <a:cs typeface="Calibri"/>
            </a:endParaRPr>
          </a:p>
          <a:p>
            <a:pPr>
              <a:buFont typeface="Calibri,Sans-Serif"/>
              <a:buChar char="-"/>
              <a:defRPr/>
            </a:pPr>
            <a:endParaRPr lang="en-US"/>
          </a:p>
        </p:txBody>
      </p:sp>
      <p:sp>
        <p:nvSpPr>
          <p:cNvPr id="127620805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D9F3D29-5E90-42D2-A1A8-ECEBBDEB87CD}" type="slidenum">
              <a:rPr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621977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2598974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b="1">
              <a:ea typeface="Calibri"/>
              <a:cs typeface="Calibri"/>
            </a:endParaRPr>
          </a:p>
          <a:p>
            <a:pPr>
              <a:buFont typeface="Calibri,Sans-Serif"/>
              <a:buChar char="-"/>
              <a:defRPr/>
            </a:pPr>
            <a:endParaRPr lang="en-US"/>
          </a:p>
        </p:txBody>
      </p:sp>
      <p:sp>
        <p:nvSpPr>
          <p:cNvPr id="358815075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D9F3D29-5E90-42D2-A1A8-ECEBBDEB87CD}" type="slidenum">
              <a:rPr/>
              <a:t>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904227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64032582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207032618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41284898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9578953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97680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6969020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2623468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5155834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3443232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212773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6195904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32840683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97971030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8495124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304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15810119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0309552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3625764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93654424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7085287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46003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590564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4687255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30806346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707477287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10984089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1002089667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80898088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29805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29595501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548442568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65785686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026365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2055300676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09598905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949755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9789508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43447991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1795277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19405045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736226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633217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999057471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163485769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3935309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180244550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58822359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33303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61471801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2119800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154475225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0787850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99507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15130866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0142285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153010337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4434873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270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4092357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756542850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38941B0-F4D5-4460-BCAD-F7E2B41A8257}" type="datetimeFigureOut">
              <a:rPr lang="fr-FR"/>
              <a:t>28/03/2026</a:t>
            </a:fld>
            <a:endParaRPr lang="fr-FR"/>
          </a:p>
        </p:txBody>
      </p:sp>
      <p:sp>
        <p:nvSpPr>
          <p:cNvPr id="117800199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1829566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7C6CCC6-2BE5-4E42-96A4-D1E8E81A3D8E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10257" name="Titre 1"/>
          <p:cNvSpPr>
            <a:spLocks noGrp="1"/>
          </p:cNvSpPr>
          <p:nvPr>
            <p:ph type="ctrTitle"/>
          </p:nvPr>
        </p:nvSpPr>
        <p:spPr bwMode="auto">
          <a:xfrm>
            <a:off x="489858" y="1122363"/>
            <a:ext cx="11563046" cy="238760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fr-FR" sz="5400" b="1">
                <a:solidFill>
                  <a:srgbClr val="00008B"/>
                </a:solidFill>
                <a:latin typeface="Consolas"/>
                <a:ea typeface="+mj-lt"/>
                <a:cs typeface="+mj-lt"/>
              </a:rPr>
              <a:t>Why</a:t>
            </a:r>
            <a:r>
              <a:rPr lang="fr-FR" sz="5400" b="1">
                <a:solidFill>
                  <a:srgbClr val="00008B"/>
                </a:solidFill>
                <a:latin typeface="Consolas"/>
                <a:ea typeface="+mj-lt"/>
                <a:cs typeface="+mj-lt"/>
              </a:rPr>
              <a:t> </a:t>
            </a:r>
            <a:r>
              <a:rPr lang="fr-FR" sz="5400" b="1">
                <a:solidFill>
                  <a:srgbClr val="00008B"/>
                </a:solidFill>
                <a:latin typeface="Consolas"/>
                <a:ea typeface="+mj-lt"/>
                <a:cs typeface="+mj-lt"/>
              </a:rPr>
              <a:t>Websites</a:t>
            </a:r>
            <a:r>
              <a:rPr lang="fr-FR" sz="5400" b="1">
                <a:solidFill>
                  <a:srgbClr val="00008B"/>
                </a:solidFill>
                <a:latin typeface="Consolas"/>
                <a:ea typeface="+mj-lt"/>
                <a:cs typeface="+mj-lt"/>
              </a:rPr>
              <a:t> Never Save</a:t>
            </a:r>
            <a:br>
              <a:rPr lang="fr-FR" sz="5400" b="1">
                <a:latin typeface="Consolas"/>
                <a:ea typeface="+mj-lt"/>
                <a:cs typeface="+mj-lt"/>
              </a:rPr>
            </a:br>
            <a:r>
              <a:rPr lang="fr-FR" sz="5400" b="1">
                <a:solidFill>
                  <a:srgbClr val="00008B"/>
                </a:solidFill>
                <a:latin typeface="Consolas"/>
                <a:ea typeface="+mj-lt"/>
                <a:cs typeface="+mj-lt"/>
              </a:rPr>
              <a:t>Your</a:t>
            </a:r>
            <a:r>
              <a:rPr lang="fr-FR" sz="5400" b="1">
                <a:solidFill>
                  <a:srgbClr val="00008B"/>
                </a:solidFill>
                <a:latin typeface="Consolas"/>
                <a:ea typeface="+mj-lt"/>
                <a:cs typeface="+mj-lt"/>
              </a:rPr>
              <a:t> </a:t>
            </a:r>
            <a:r>
              <a:rPr lang="fr-FR" sz="5400" b="1">
                <a:solidFill>
                  <a:srgbClr val="00008B"/>
                </a:solidFill>
                <a:latin typeface="Consolas"/>
                <a:ea typeface="+mj-lt"/>
                <a:cs typeface="+mj-lt"/>
              </a:rPr>
              <a:t>Passwords</a:t>
            </a:r>
            <a:endParaRPr lang="fr-FR" sz="5400" b="1">
              <a:solidFill>
                <a:srgbClr val="00008B"/>
              </a:solidFill>
              <a:latin typeface="Consolas"/>
              <a:cs typeface="Courier New"/>
            </a:endParaRPr>
          </a:p>
        </p:txBody>
      </p:sp>
      <p:sp>
        <p:nvSpPr>
          <p:cNvPr id="1007090399" name="Sous-titre 2"/>
          <p:cNvSpPr>
            <a:spLocks noGrp="1"/>
          </p:cNvSpPr>
          <p:nvPr>
            <p:ph type="subTitle" idx="1"/>
          </p:nvPr>
        </p:nvSpPr>
        <p:spPr bwMode="auto">
          <a:xfrm>
            <a:off x="489857" y="365564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defRPr/>
            </a:pPr>
            <a:r>
              <a:rPr lang="fr-FR" sz="3200" b="1">
                <a:latin typeface="Consolas"/>
                <a:ea typeface="+mn-lt"/>
                <a:cs typeface="+mn-lt"/>
              </a:rPr>
              <a:t>How </a:t>
            </a:r>
            <a:r>
              <a:rPr lang="fr-FR" sz="3200" b="1">
                <a:latin typeface="Consolas"/>
                <a:ea typeface="+mn-lt"/>
                <a:cs typeface="+mn-lt"/>
              </a:rPr>
              <a:t>authentication</a:t>
            </a:r>
            <a:r>
              <a:rPr lang="fr-FR" sz="3200" b="1">
                <a:latin typeface="Consolas"/>
                <a:ea typeface="+mn-lt"/>
                <a:cs typeface="+mn-lt"/>
              </a:rPr>
              <a:t> </a:t>
            </a:r>
            <a:r>
              <a:rPr lang="fr-FR" sz="3200" b="1">
                <a:latin typeface="Consolas"/>
                <a:ea typeface="+mn-lt"/>
                <a:cs typeface="+mn-lt"/>
              </a:rPr>
              <a:t>works</a:t>
            </a:r>
            <a:r>
              <a:rPr lang="fr-FR" sz="3200" b="1">
                <a:latin typeface="Consolas"/>
                <a:ea typeface="+mn-lt"/>
                <a:cs typeface="+mn-lt"/>
              </a:rPr>
              <a:t> in the backend</a:t>
            </a:r>
            <a:endParaRPr/>
          </a:p>
        </p:txBody>
      </p:sp>
      <p:pic>
        <p:nvPicPr>
          <p:cNvPr id="355031107" name="Picture 4" descr="A black and blue text on a black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19492" y="-244021"/>
            <a:ext cx="1242786" cy="1206501"/>
          </a:xfrm>
          <a:prstGeom prst="rect">
            <a:avLst/>
          </a:prstGeom>
        </p:spPr>
      </p:pic>
      <p:cxnSp>
        <p:nvCxnSpPr>
          <p:cNvPr id="1103364739" name="Straight Arrow Connector 5"/>
          <p:cNvCxnSpPr/>
          <p:nvPr/>
        </p:nvCxnSpPr>
        <p:spPr bwMode="auto">
          <a:xfrm>
            <a:off x="581380" y="4393132"/>
            <a:ext cx="8689615" cy="44029"/>
          </a:xfrm>
          <a:prstGeom prst="straightConnector1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53161379" name="TextBox 6"/>
          <p:cNvSpPr txBox="1"/>
          <p:nvPr/>
        </p:nvSpPr>
        <p:spPr bwMode="auto">
          <a:xfrm>
            <a:off x="489856" y="5965506"/>
            <a:ext cx="76473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latin typeface="Consolas"/>
              </a:rPr>
              <a:t>&gt;  Author: Arnaud Gomes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454165" name="Titre 1"/>
          <p:cNvSpPr>
            <a:spLocks noGrp="1"/>
          </p:cNvSpPr>
          <p:nvPr>
            <p:ph type="title" idx="4294967295"/>
          </p:nvPr>
        </p:nvSpPr>
        <p:spPr bwMode="auto">
          <a:xfrm>
            <a:off x="348343" y="307068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>
                <a:latin typeface="Consolas"/>
                <a:cs typeface="Courier New"/>
              </a:rPr>
              <a:t>The </a:t>
            </a:r>
            <a:r>
              <a:rPr lang="fr-FR" b="1">
                <a:latin typeface="Consolas"/>
                <a:cs typeface="Courier New"/>
              </a:rPr>
              <a:t>Plaintext</a:t>
            </a:r>
            <a:r>
              <a:rPr lang="fr-FR" b="1">
                <a:latin typeface="Consolas"/>
                <a:cs typeface="Courier New"/>
              </a:rPr>
              <a:t> </a:t>
            </a:r>
            <a:r>
              <a:rPr lang="fr-FR" b="1">
                <a:latin typeface="Consolas"/>
                <a:cs typeface="Courier New"/>
              </a:rPr>
              <a:t>Problem</a:t>
            </a:r>
            <a:endParaRPr/>
          </a:p>
        </p:txBody>
      </p:sp>
      <p:pic>
        <p:nvPicPr>
          <p:cNvPr id="912627149" name="Picture 16" descr="A black and blue text on a black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19492" y="-244021"/>
            <a:ext cx="1242786" cy="1206501"/>
          </a:xfrm>
          <a:prstGeom prst="rect">
            <a:avLst/>
          </a:prstGeom>
        </p:spPr>
      </p:pic>
      <p:sp>
        <p:nvSpPr>
          <p:cNvPr id="1797239890" name="TextBox 7"/>
          <p:cNvSpPr txBox="1"/>
          <p:nvPr/>
        </p:nvSpPr>
        <p:spPr bwMode="auto">
          <a:xfrm>
            <a:off x="5052558" y="2121219"/>
            <a:ext cx="6959926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Exact input = Exact database record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One breach = Total Database Compromise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NEVER leave passwords in plaintext</a:t>
            </a:r>
            <a:endParaRPr/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>
              <a:defRPr/>
            </a:pPr>
            <a:endParaRPr lang="en-US" b="1">
              <a:latin typeface="Consolas"/>
            </a:endParaRPr>
          </a:p>
        </p:txBody>
      </p:sp>
      <p:graphicFrame>
        <p:nvGraphicFramePr>
          <p:cNvPr id="2027582524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1085157" y="1640240"/>
          <a:ext cx="3799244" cy="348578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{793D81CF-94F2-401A-BA57-92F5A7B2D0C5}</a:tableStyleId>
              </a:tblPr>
              <a:tblGrid>
                <a:gridCol w="1888789"/>
                <a:gridCol w="1910455"/>
              </a:tblGrid>
              <a:tr h="116192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Username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Password</a:t>
                      </a:r>
                      <a:endParaRPr/>
                    </a:p>
                  </a:txBody>
                  <a:tcPr anchor="ctr"/>
                </a:tc>
              </a:tr>
              <a:tr h="1161929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/>
                        <a:t>admin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admin67</a:t>
                      </a:r>
                      <a:endParaRPr/>
                    </a:p>
                  </a:txBody>
                  <a:tcPr anchor="ctr"/>
                </a:tc>
              </a:tr>
              <a:tr h="116192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charl</a:t>
                      </a:r>
                      <a:r>
                        <a:rPr lang="en-US"/>
                        <a:t>ie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cats123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992265927" name="Rectangle 9"/>
          <p:cNvSpPr/>
          <p:nvPr/>
        </p:nvSpPr>
        <p:spPr bwMode="auto">
          <a:xfrm>
            <a:off x="2993507" y="1644355"/>
            <a:ext cx="1897723" cy="34856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825436" name="Titre 1"/>
          <p:cNvSpPr>
            <a:spLocks noGrp="1"/>
          </p:cNvSpPr>
          <p:nvPr>
            <p:ph type="title" idx="4294967295"/>
          </p:nvPr>
        </p:nvSpPr>
        <p:spPr bwMode="auto">
          <a:xfrm>
            <a:off x="348343" y="307068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>
                <a:latin typeface="Consolas"/>
                <a:cs typeface="Courier New"/>
              </a:rPr>
              <a:t>Hashing</a:t>
            </a:r>
            <a:r>
              <a:rPr lang="fr-FR" b="1">
                <a:latin typeface="Consolas"/>
                <a:cs typeface="Courier New"/>
              </a:rPr>
              <a:t> </a:t>
            </a:r>
            <a:r>
              <a:rPr lang="fr-FR" b="1">
                <a:latin typeface="Consolas"/>
                <a:cs typeface="Courier New"/>
              </a:rPr>
              <a:t>Algorithms</a:t>
            </a:r>
            <a:endParaRPr b="1"/>
          </a:p>
        </p:txBody>
      </p:sp>
      <p:pic>
        <p:nvPicPr>
          <p:cNvPr id="1436436534" name="Picture 16" descr="A black and blue text on a black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19492" y="-244021"/>
            <a:ext cx="1242786" cy="1206501"/>
          </a:xfrm>
          <a:prstGeom prst="rect">
            <a:avLst/>
          </a:prstGeom>
        </p:spPr>
      </p:pic>
      <p:sp>
        <p:nvSpPr>
          <p:cNvPr id="1529693048" name="TextBox 7"/>
          <p:cNvSpPr txBox="1"/>
          <p:nvPr/>
        </p:nvSpPr>
        <p:spPr bwMode="auto">
          <a:xfrm>
            <a:off x="407512" y="1632293"/>
            <a:ext cx="10256829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One-way mathematical function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Fixed-length</a:t>
            </a:r>
            <a:r>
              <a:rPr lang="en-US" sz="2400" b="1">
                <a:latin typeface="Consolas"/>
                <a:ea typeface="+mn-lt"/>
                <a:cs typeface="+mn-lt"/>
              </a:rPr>
              <a:t>, chaotic string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Compare hashes, never see the password</a:t>
            </a:r>
            <a:endParaRPr/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>
              <a:defRPr/>
            </a:pPr>
            <a:endParaRPr lang="en-US" b="1">
              <a:latin typeface="Consolas"/>
            </a:endParaRPr>
          </a:p>
        </p:txBody>
      </p:sp>
      <p:pic>
        <p:nvPicPr>
          <p:cNvPr id="318032922" name="Picture 6" descr="A diagram of a road&#10;&#10;AI-generated content may be incorrect."/>
          <p:cNvPicPr>
            <a:picLocks noChangeAspect="1"/>
          </p:cNvPicPr>
          <p:nvPr/>
        </p:nvPicPr>
        <p:blipFill rotWithShape="1">
          <a:blip r:embed="rId4"/>
          <a:srcRect l="6952" t="31703" r="7122" b="15980"/>
          <a:stretch/>
        </p:blipFill>
        <p:spPr bwMode="auto">
          <a:xfrm>
            <a:off x="2963492" y="3777649"/>
            <a:ext cx="5745455" cy="2443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056421" name="Titre 1"/>
          <p:cNvSpPr>
            <a:spLocks noGrp="1"/>
          </p:cNvSpPr>
          <p:nvPr>
            <p:ph type="title" idx="4294967295"/>
          </p:nvPr>
        </p:nvSpPr>
        <p:spPr bwMode="auto">
          <a:xfrm>
            <a:off x="348343" y="307068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>
                <a:latin typeface="Consolas"/>
                <a:ea typeface="+mj-lt"/>
                <a:cs typeface="Courier New"/>
              </a:rPr>
              <a:t>Hashing</a:t>
            </a:r>
            <a:r>
              <a:rPr lang="fr-FR" b="1">
                <a:latin typeface="Consolas"/>
                <a:ea typeface="+mj-lt"/>
                <a:cs typeface="Courier New"/>
              </a:rPr>
              <a:t>: The </a:t>
            </a:r>
            <a:r>
              <a:rPr lang="fr-FR" b="1">
                <a:latin typeface="Consolas"/>
                <a:ea typeface="+mj-lt"/>
                <a:cs typeface="Courier New"/>
              </a:rPr>
              <a:t>Database</a:t>
            </a:r>
            <a:r>
              <a:rPr lang="fr-FR" b="1">
                <a:latin typeface="Consolas"/>
                <a:ea typeface="+mj-lt"/>
                <a:cs typeface="Courier New"/>
              </a:rPr>
              <a:t> </a:t>
            </a:r>
            <a:r>
              <a:rPr lang="fr-FR" b="1">
                <a:latin typeface="Consolas"/>
                <a:ea typeface="+mj-lt"/>
                <a:cs typeface="Courier New"/>
              </a:rPr>
              <a:t>View</a:t>
            </a:r>
            <a:endParaRPr lang="fr-FR">
              <a:latin typeface="Aptos Display"/>
              <a:ea typeface="+mj-lt"/>
              <a:cs typeface="Courier New"/>
            </a:endParaRPr>
          </a:p>
        </p:txBody>
      </p:sp>
      <p:pic>
        <p:nvPicPr>
          <p:cNvPr id="1058541677" name="Picture 16" descr="A black and blue text on a black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19492" y="-244021"/>
            <a:ext cx="1242786" cy="1206501"/>
          </a:xfrm>
          <a:prstGeom prst="rect">
            <a:avLst/>
          </a:prstGeom>
        </p:spPr>
      </p:pic>
      <p:sp>
        <p:nvSpPr>
          <p:cNvPr id="1838905575" name="TextBox 7"/>
          <p:cNvSpPr txBox="1"/>
          <p:nvPr/>
        </p:nvSpPr>
        <p:spPr bwMode="auto">
          <a:xfrm>
            <a:off x="5424899" y="2355015"/>
            <a:ext cx="6639541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Plaintext exists ONLY in RAM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Database stores ONLY the hash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Match input hash vs. stored hash</a:t>
            </a:r>
            <a:endParaRPr/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>
              <a:defRPr/>
            </a:pPr>
            <a:endParaRPr lang="en-US" b="1">
              <a:latin typeface="Consolas"/>
            </a:endParaRPr>
          </a:p>
        </p:txBody>
      </p:sp>
      <p:graphicFrame>
        <p:nvGraphicFramePr>
          <p:cNvPr id="655621744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421499" y="1884594"/>
          <a:ext cx="4401418" cy="43065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{793D81CF-94F2-401A-BA57-92F5A7B2D0C5}</a:tableStyleId>
              </a:tblPr>
              <a:tblGrid>
                <a:gridCol w="1396492"/>
                <a:gridCol w="1658200"/>
                <a:gridCol w="1531317"/>
              </a:tblGrid>
              <a:tr h="8613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Username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Password</a:t>
                      </a:r>
                      <a:br>
                        <a:rPr lang="en-US" b="1" i="0">
                          <a:latin typeface="Consolas"/>
                        </a:rPr>
                      </a:br>
                      <a:r>
                        <a:rPr lang="en-US" b="1" i="0">
                          <a:latin typeface="Consolas"/>
                        </a:rPr>
                        <a:t>(Plaintext)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1" i="0">
                          <a:latin typeface="Consolas"/>
                        </a:rPr>
                        <a:t>Password</a:t>
                      </a:r>
                      <a:endParaRPr/>
                    </a:p>
                    <a:p>
                      <a:pPr lvl="0" algn="ctr">
                        <a:buNone/>
                        <a:defRPr/>
                      </a:pPr>
                      <a:r>
                        <a:rPr lang="en-US" b="1" i="0">
                          <a:latin typeface="Consolas"/>
                        </a:rPr>
                        <a:t>(Hashed)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/>
                        <a:t>admin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0" i="1">
                          <a:latin typeface="Consolas"/>
                        </a:rPr>
                        <a:t>admin67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5897cfa...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charlie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0" i="1" u="none">
                          <a:latin typeface="Consolas"/>
                        </a:rPr>
                        <a:t>cats123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f6d4692...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alice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0" i="1">
                          <a:latin typeface="Consolas"/>
                        </a:rPr>
                        <a:t>cats123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onsolas"/>
                        </a:rPr>
                        <a:t>f6d4692...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bob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0" i="1">
                          <a:latin typeface="Consolas"/>
                        </a:rPr>
                        <a:t>p@ssword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0fd2059...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03353905" name="Rectangle 6"/>
          <p:cNvSpPr/>
          <p:nvPr/>
        </p:nvSpPr>
        <p:spPr bwMode="auto">
          <a:xfrm>
            <a:off x="1816991" y="1896745"/>
            <a:ext cx="1719157" cy="43191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27194933" name="TextBox 8"/>
          <p:cNvSpPr txBox="1"/>
          <p:nvPr/>
        </p:nvSpPr>
        <p:spPr bwMode="auto">
          <a:xfrm>
            <a:off x="1817261" y="1522658"/>
            <a:ext cx="17355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en-US" b="1">
                <a:solidFill>
                  <a:srgbClr val="FF0000"/>
                </a:solidFill>
                <a:latin typeface="Consolas"/>
              </a:rPr>
              <a:t>RAM ONLY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527836" name="Titre 1"/>
          <p:cNvSpPr>
            <a:spLocks noGrp="1"/>
          </p:cNvSpPr>
          <p:nvPr>
            <p:ph type="title" idx="4294967295"/>
          </p:nvPr>
        </p:nvSpPr>
        <p:spPr bwMode="auto">
          <a:xfrm>
            <a:off x="348343" y="307068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>
                <a:latin typeface="Consolas"/>
                <a:ea typeface="+mj-lt"/>
                <a:cs typeface="Courier New"/>
              </a:rPr>
              <a:t>Hashing</a:t>
            </a:r>
            <a:r>
              <a:rPr lang="fr-FR" b="1">
                <a:latin typeface="Consolas"/>
                <a:ea typeface="+mj-lt"/>
                <a:cs typeface="Courier New"/>
              </a:rPr>
              <a:t> Limitations</a:t>
            </a:r>
            <a:endParaRPr/>
          </a:p>
        </p:txBody>
      </p:sp>
      <p:pic>
        <p:nvPicPr>
          <p:cNvPr id="692142616" name="Picture 16" descr="A black and blue text on a black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19492" y="-244021"/>
            <a:ext cx="1242786" cy="1206501"/>
          </a:xfrm>
          <a:prstGeom prst="rect">
            <a:avLst/>
          </a:prstGeom>
        </p:spPr>
      </p:pic>
      <p:sp>
        <p:nvSpPr>
          <p:cNvPr id="473833024" name="TextBox 7"/>
          <p:cNvSpPr txBox="1"/>
          <p:nvPr/>
        </p:nvSpPr>
        <p:spPr bwMode="auto">
          <a:xfrm>
            <a:off x="4865834" y="2264650"/>
            <a:ext cx="720615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Deterministic, Same input = Same output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Identical passwords are exposed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"Rainbow Tables", dictionaries with common passwords and </a:t>
            </a:r>
            <a:r>
              <a:rPr lang="en-US" sz="2400" b="1">
                <a:latin typeface="Consolas"/>
              </a:rPr>
              <a:t>their</a:t>
            </a:r>
            <a:r>
              <a:rPr lang="en-US" sz="2400" b="1">
                <a:latin typeface="Consolas"/>
              </a:rPr>
              <a:t> hashes</a:t>
            </a:r>
            <a:endParaRPr/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>
              <a:defRPr/>
            </a:pPr>
            <a:endParaRPr lang="en-US" b="1">
              <a:latin typeface="Consolas"/>
            </a:endParaRPr>
          </a:p>
        </p:txBody>
      </p:sp>
      <p:graphicFrame>
        <p:nvGraphicFramePr>
          <p:cNvPr id="227650112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352094" y="1630594"/>
          <a:ext cx="4401418" cy="43065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{793D81CF-94F2-401A-BA57-92F5A7B2D0C5}</a:tableStyleId>
              </a:tblPr>
              <a:tblGrid>
                <a:gridCol w="1440000"/>
                <a:gridCol w="1491737"/>
                <a:gridCol w="1469679"/>
              </a:tblGrid>
              <a:tr h="8613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Username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Password</a:t>
                      </a:r>
                      <a:br>
                        <a:rPr lang="en-US" b="1" i="0">
                          <a:latin typeface="Consolas"/>
                        </a:rPr>
                      </a:br>
                      <a:r>
                        <a:rPr lang="en-US" b="1" i="0">
                          <a:latin typeface="Consolas"/>
                        </a:rPr>
                        <a:t>(Plaintext)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1" i="0">
                          <a:latin typeface="Consolas"/>
                        </a:rPr>
                        <a:t>Password</a:t>
                      </a:r>
                      <a:endParaRPr/>
                    </a:p>
                    <a:p>
                      <a:pPr lvl="0" algn="ctr">
                        <a:buNone/>
                        <a:defRPr/>
                      </a:pPr>
                      <a:r>
                        <a:rPr lang="en-US" b="1" i="0">
                          <a:latin typeface="Consolas"/>
                        </a:rPr>
                        <a:t>(Hashed)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/>
                        <a:t>admin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0" i="1">
                          <a:latin typeface="Consolas"/>
                        </a:rPr>
                        <a:t>admin67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5897cfa...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charlie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0" i="1">
                          <a:latin typeface="Consolas"/>
                        </a:rPr>
                        <a:t>cats123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f6d4692...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alice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0" i="1">
                          <a:latin typeface="Consolas"/>
                        </a:rPr>
                        <a:t>cats123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onsolas"/>
                        </a:rPr>
                        <a:t>f6d4692...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bob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0" i="1">
                          <a:latin typeface="Consolas"/>
                        </a:rPr>
                        <a:t>p@ssword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0fd2059...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64236641" name="Rectangle 3"/>
          <p:cNvSpPr/>
          <p:nvPr/>
        </p:nvSpPr>
        <p:spPr bwMode="auto">
          <a:xfrm>
            <a:off x="351389" y="3337044"/>
            <a:ext cx="4389677" cy="17291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291197" name="Titre 1"/>
          <p:cNvSpPr>
            <a:spLocks noGrp="1"/>
          </p:cNvSpPr>
          <p:nvPr>
            <p:ph type="title" idx="4294967295"/>
          </p:nvPr>
        </p:nvSpPr>
        <p:spPr bwMode="auto">
          <a:xfrm>
            <a:off x="348343" y="307068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>
                <a:latin typeface="Consolas"/>
                <a:cs typeface="Courier New"/>
              </a:rPr>
              <a:t>Salting</a:t>
            </a:r>
            <a:r>
              <a:rPr lang="fr-FR" b="1">
                <a:latin typeface="Consolas"/>
                <a:cs typeface="Courier New"/>
              </a:rPr>
              <a:t> </a:t>
            </a:r>
            <a:r>
              <a:rPr lang="fr-FR" b="1">
                <a:latin typeface="Consolas"/>
                <a:cs typeface="Courier New"/>
              </a:rPr>
              <a:t>Implementation</a:t>
            </a:r>
            <a:endParaRPr/>
          </a:p>
        </p:txBody>
      </p:sp>
      <p:pic>
        <p:nvPicPr>
          <p:cNvPr id="203499828" name="Picture 16" descr="A black and blue text on a black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19492" y="-244021"/>
            <a:ext cx="1242786" cy="1206501"/>
          </a:xfrm>
          <a:prstGeom prst="rect">
            <a:avLst/>
          </a:prstGeom>
        </p:spPr>
      </p:pic>
      <p:sp>
        <p:nvSpPr>
          <p:cNvPr id="929387437" name="TextBox 7"/>
          <p:cNvSpPr txBox="1"/>
          <p:nvPr/>
        </p:nvSpPr>
        <p:spPr bwMode="auto">
          <a:xfrm>
            <a:off x="6230193" y="2112560"/>
            <a:ext cx="5894860" cy="3508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Password + Unique </a:t>
            </a:r>
            <a:r>
              <a:rPr lang="en-US" sz="2400" b="1">
                <a:latin typeface="Consolas"/>
              </a:rPr>
              <a:t>Random Salt</a:t>
            </a:r>
            <a:endParaRPr lang="en-US"/>
          </a:p>
          <a:p>
            <a:pPr>
              <a:defRPr/>
            </a:pPr>
            <a:r>
              <a:rPr lang="en-US" sz="2400" b="1">
                <a:latin typeface="Consolas"/>
              </a:rPr>
              <a:t>  = </a:t>
            </a:r>
            <a:r>
              <a:rPr lang="en-US" sz="2400" b="1">
                <a:latin typeface="Consolas"/>
              </a:rPr>
              <a:t>Hash</a:t>
            </a:r>
            <a:endParaRPr lang="en-US"/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Salt saved alongside the hash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Identical passwords, different hashes</a:t>
            </a:r>
            <a:endParaRPr/>
          </a:p>
          <a:p>
            <a:pPr>
              <a:defRPr/>
            </a:pPr>
            <a:endParaRPr lang="en-US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>
              <a:defRPr/>
            </a:pPr>
            <a:endParaRPr lang="en-US" b="1">
              <a:latin typeface="Consolas"/>
            </a:endParaRPr>
          </a:p>
        </p:txBody>
      </p:sp>
      <p:graphicFrame>
        <p:nvGraphicFramePr>
          <p:cNvPr id="823103249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438685" y="1717185"/>
          <a:ext cx="5718604" cy="43065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{793D81CF-94F2-401A-BA57-92F5A7B2D0C5}</a:tableStyleId>
              </a:tblPr>
              <a:tblGrid>
                <a:gridCol w="1440000"/>
                <a:gridCol w="1530000"/>
                <a:gridCol w="1104787"/>
                <a:gridCol w="1643815"/>
              </a:tblGrid>
              <a:tr h="8613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Username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1" i="0">
                          <a:latin typeface="Consolas"/>
                        </a:rPr>
                        <a:t>Password</a:t>
                      </a:r>
                      <a:br>
                        <a:rPr lang="en-US" b="1" i="0">
                          <a:latin typeface="Consolas"/>
                        </a:rPr>
                      </a:br>
                      <a:r>
                        <a:rPr lang="en-US" b="1" i="0">
                          <a:latin typeface="Consolas"/>
                        </a:rPr>
                        <a:t>(Plaintext)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1" i="0">
                          <a:latin typeface="Consolas"/>
                        </a:rPr>
                        <a:t>Salt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1" i="0">
                          <a:latin typeface="Consolas"/>
                        </a:rPr>
                        <a:t>Password</a:t>
                      </a:r>
                      <a:endParaRPr/>
                    </a:p>
                    <a:p>
                      <a:pPr lvl="0" algn="ctr">
                        <a:buNone/>
                        <a:defRPr/>
                      </a:pPr>
                      <a:r>
                        <a:rPr lang="en-US" b="1" i="0">
                          <a:latin typeface="Consolas"/>
                        </a:rPr>
                        <a:t>(Hashed)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/>
                        <a:t>admin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0" i="1">
                          <a:latin typeface="Consolas"/>
                        </a:rPr>
                        <a:t>admin67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8xF2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b3664aba...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charlie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0" i="1">
                          <a:latin typeface="Consolas"/>
                        </a:rPr>
                        <a:t>cats123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a7d9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34b60fbf...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alice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0" i="1">
                          <a:latin typeface="Consolas"/>
                        </a:rPr>
                        <a:t>cats123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onsolas"/>
                        </a:rPr>
                        <a:t>1yZ5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onsolas"/>
                        </a:rPr>
                        <a:t>46346c13...</a:t>
                      </a:r>
                      <a:endParaRPr/>
                    </a:p>
                  </a:txBody>
                  <a:tcPr anchor="ctr"/>
                </a:tc>
              </a:tr>
              <a:tr h="861316"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bob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b="0" i="1">
                          <a:latin typeface="Consolas"/>
                        </a:rPr>
                        <a:t>p@ssword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3mK8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 sz="1800" b="1" i="0" u="none" strike="noStrike">
                          <a:latin typeface="Consolas"/>
                        </a:rPr>
                        <a:t>4e00b7af...</a:t>
                      </a:r>
                      <a:endParaRPr lang="en-US" b="1" i="0">
                        <a:latin typeface="Consola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87772791" name="Rectangle 3"/>
          <p:cNvSpPr/>
          <p:nvPr/>
        </p:nvSpPr>
        <p:spPr bwMode="auto">
          <a:xfrm>
            <a:off x="438199" y="3423854"/>
            <a:ext cx="5720765" cy="1729166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71501" name="Titre 1"/>
          <p:cNvSpPr>
            <a:spLocks noGrp="1"/>
          </p:cNvSpPr>
          <p:nvPr>
            <p:ph type="title" idx="4294967295"/>
          </p:nvPr>
        </p:nvSpPr>
        <p:spPr bwMode="auto">
          <a:xfrm>
            <a:off x="348343" y="307068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>
                <a:latin typeface="Consolas"/>
                <a:cs typeface="Courier New"/>
              </a:rPr>
              <a:t>Summary</a:t>
            </a:r>
            <a:endParaRPr/>
          </a:p>
        </p:txBody>
      </p:sp>
      <p:pic>
        <p:nvPicPr>
          <p:cNvPr id="601405142" name="Picture 16" descr="A black and blue text on a black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19492" y="-244021"/>
            <a:ext cx="1242786" cy="1206501"/>
          </a:xfrm>
          <a:prstGeom prst="rect">
            <a:avLst/>
          </a:prstGeom>
        </p:spPr>
      </p:pic>
      <p:sp>
        <p:nvSpPr>
          <p:cNvPr id="1532756280" name="TextBox 7"/>
          <p:cNvSpPr txBox="1"/>
          <p:nvPr/>
        </p:nvSpPr>
        <p:spPr bwMode="auto">
          <a:xfrm>
            <a:off x="350671" y="1644969"/>
            <a:ext cx="10977746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342900" indent="-34290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Never store raw passwords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Hashing: One-way mathematical signature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Salting: Guarantees uni</a:t>
            </a:r>
            <a:r>
              <a:rPr lang="en-US" sz="2400" b="1">
                <a:latin typeface="Consolas"/>
              </a:rPr>
              <a:t>que values for every user</a:t>
            </a:r>
            <a:endParaRPr lang="en-US"/>
          </a:p>
          <a:p>
            <a:pPr marL="285750" indent="-285750">
              <a:buFont typeface="Calibri"/>
              <a:buChar char="-"/>
              <a:defRPr/>
            </a:pP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US" sz="2400" b="1">
                <a:latin typeface="Consolas"/>
              </a:rPr>
              <a:t>MFA: Mandatory secondary layer of security</a:t>
            </a:r>
            <a:endParaRPr lang="en-US" sz="2400" b="1">
              <a:latin typeface="Consolas"/>
            </a:endParaRPr>
          </a:p>
          <a:p>
            <a:pPr marL="285750" indent="-285750">
              <a:buFont typeface="Calibri"/>
              <a:buChar char="-"/>
              <a:defRPr/>
            </a:pPr>
            <a:endParaRPr lang="en-US" b="1">
              <a:latin typeface="Consolas"/>
            </a:endParaRPr>
          </a:p>
          <a:p>
            <a:pPr>
              <a:defRPr/>
            </a:pPr>
            <a:endParaRPr lang="en-US" b="1">
              <a:latin typeface="Consolas"/>
            </a:endParaRPr>
          </a:p>
        </p:txBody>
      </p:sp>
      <p:sp>
        <p:nvSpPr>
          <p:cNvPr id="1723092013" name="TextBox 2"/>
          <p:cNvSpPr txBox="1"/>
          <p:nvPr/>
        </p:nvSpPr>
        <p:spPr bwMode="auto">
          <a:xfrm>
            <a:off x="9564546" y="5555848"/>
            <a:ext cx="23226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en-US" b="1">
                <a:latin typeface="Consolas"/>
              </a:rPr>
              <a:t>Questions?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756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32756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756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32756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756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532756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7562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5327562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09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172309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2756280" grpId="0" build="p"/>
      <p:bldP spid="1723092013" grpId="0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178</cp:revision>
  <dcterms:created xsi:type="dcterms:W3CDTF">2012-07-30T22:21:58Z</dcterms:created>
  <dcterms:modified xsi:type="dcterms:W3CDTF">2026-03-28T17:48:10Z</dcterms:modified>
</cp:coreProperties>
</file>