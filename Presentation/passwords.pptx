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48CAB5-DC56-841A-EC51-5E16716DE69C}" v="12" dt="2026-03-28T17:51:55.048"/>
  </p1510:revLst>
</p1510:revInfo>
</file>

<file path=ppt/tableStyles.xml><?xml version="1.0" encoding="utf-8"?>
<a:tblStyleLst xmlns:a="http://schemas.openxmlformats.org/drawingml/2006/main" def="{793D81CF-94F2-401A-BA57-92F5A7B2D0C5}">
  <a:tblStyle styleId="{793D81CF-94F2-401A-BA57-92F5A7B2D0C5}" styleName="Medium Style 1">
    <a:wholeTbl>
      <a:tcTxStyle>
        <a:fontRef idx="minor">
          <a:srgbClr val="000000"/>
        </a:fontRef>
        <a:schemeClr val="dk1"/>
      </a:tcTxStyle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  <a:insideH>
            <a:ln w="12700">
              <a:solidFill>
                <a:schemeClr val="dk1"/>
              </a:solidFill>
            </a:ln>
          </a:insideH>
          <a:insideV>
            <a:ln w="12700"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band2V>
      <a:tcStyle>
        <a:tcBdr/>
        <a:fill>
          <a:solidFill>
            <a:schemeClr val="dk1">
              <a:tint val="20000"/>
            </a:schemeClr>
          </a:solidFill>
        </a:fill>
      </a:tcStyle>
    </a:band2V>
    <a:lastCol>
      <a:tcStyle>
        <a:tcBdr/>
      </a:tcStyle>
    </a:lastCol>
    <a:firstCol>
      <a:tcStyle>
        <a:tcBdr/>
      </a:tcStyle>
    </a:firstCol>
    <a:lastRow>
      <a:tcStyle>
        <a:tcBdr>
          <a:top>
            <a:ln w="50800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srgbClr val="000000"/>
        </a:fontRef>
        <a:schemeClr val="lt1"/>
      </a:tcTxStyle>
      <a:tcStyle>
        <a:tcBdr/>
        <a:fill>
          <a:solidFill>
            <a:schemeClr val="dk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111" d="47"/>
          <a:sy n="101" d="112"/>
        </p:scale>
        <p:origin x="101" y="115"/>
      </p:cViewPr>
      <p:guideLst>
        <p:guide pos="3840"/>
        <p:guide orient="horz" pos="216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6252797" name="Espace réservé de l'en-têt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12864292" name="Espace réservé de la date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735DE62C-5220-46EA-9BE3-B45DB196C1A3}" type="datetimeFigureOut">
              <a:rPr/>
              <a:t>3/28/2026</a:t>
            </a:fld>
            <a:endParaRPr lang="fr-FR"/>
          </a:p>
        </p:txBody>
      </p:sp>
      <p:sp>
        <p:nvSpPr>
          <p:cNvPr id="105162375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fr-FR"/>
          </a:p>
        </p:txBody>
      </p:sp>
      <p:sp>
        <p:nvSpPr>
          <p:cNvPr id="466521609" name="Espace réservé des notes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817378717" name="Espace réservé du pied de page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38348637" name="Espace réservé du numéro de diapositive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ED9F3D29-5E90-42D2-A1A8-ECEBBDEB87CD}" type="slidenum">
              <a:rPr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0B6E6F-05FC-F686-AB07-F9150618EBD1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205019" name="Espace réservé de l'image des diapositives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3576877" name="Espace réservé des notes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Font typeface="Calibri,Sans-Serif"/>
              <a:buChar char="-"/>
              <a:defRPr/>
            </a:pPr>
            <a:endParaRPr lang="en-US"/>
          </a:p>
        </p:txBody>
      </p:sp>
      <p:sp>
        <p:nvSpPr>
          <p:cNvPr id="1601554158" name="Espace réservé du numéro de diapositive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ED9F3D29-5E90-42D2-A1A8-ECEBBDEB87CD}" type="slidenum">
              <a:rPr/>
              <a:t>2</a:t>
            </a:fld>
            <a:endParaRPr lang="fr-F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4345699" name="Espace réservé de l'image des diapositives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02958486" name="Espace réservé des notes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285750" indent="-285750">
              <a:buFont typeface="Calibri,Sans-Serif"/>
              <a:buChar char="-"/>
              <a:defRPr/>
            </a:pPr>
            <a:endParaRPr lang="en-US" b="1">
              <a:ea typeface="Calibri"/>
              <a:cs typeface="Calibri"/>
            </a:endParaRPr>
          </a:p>
          <a:p>
            <a:pPr>
              <a:buFont typeface="Calibri,Sans-Serif"/>
              <a:buChar char="-"/>
              <a:defRPr/>
            </a:pPr>
            <a:endParaRPr lang="en-US"/>
          </a:p>
        </p:txBody>
      </p:sp>
      <p:sp>
        <p:nvSpPr>
          <p:cNvPr id="1405227170" name="Espace réservé du numéro de diapositive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ED9F3D29-5E90-42D2-A1A8-ECEBBDEB87CD}" type="slidenum">
              <a:rPr/>
              <a:t>3</a:t>
            </a:fld>
            <a:endParaRPr lang="fr-FR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9439877" name="Espace réservé de l'image des diapositives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46795849" name="Espace réservé des notes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285750" indent="-285750">
              <a:buFont typeface="Calibri,Sans-Serif"/>
              <a:buChar char="-"/>
              <a:defRPr/>
            </a:pPr>
            <a:endParaRPr lang="en-US" b="1">
              <a:ea typeface="Calibri"/>
              <a:cs typeface="Calibri"/>
            </a:endParaRPr>
          </a:p>
        </p:txBody>
      </p:sp>
      <p:sp>
        <p:nvSpPr>
          <p:cNvPr id="1236811047" name="Espace réservé du numéro de diapositive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ED9F3D29-5E90-42D2-A1A8-ECEBBDEB87CD}" type="slidenum">
              <a:rPr/>
              <a:t>4</a:t>
            </a:fld>
            <a:endParaRPr lang="fr-FR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1420717" name="Espace réservé de l'image des diapositives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96593637" name="Espace réservé des notes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285750" indent="-285750">
              <a:buFont typeface="Calibri,Sans-Serif"/>
              <a:buChar char="-"/>
              <a:defRPr/>
            </a:pPr>
            <a:endParaRPr lang="en-US" b="1">
              <a:ea typeface="Calibri"/>
              <a:cs typeface="Calibri"/>
            </a:endParaRPr>
          </a:p>
        </p:txBody>
      </p:sp>
      <p:sp>
        <p:nvSpPr>
          <p:cNvPr id="610195464" name="Espace réservé du numéro de diapositive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ED9F3D29-5E90-42D2-A1A8-ECEBBDEB87CD}" type="slidenum">
              <a:rPr/>
              <a:t>5</a:t>
            </a:fld>
            <a:endParaRPr lang="fr-FR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8539536" name="Espace réservé de l'image des diapositives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66483531" name="Espace réservé des notes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285750" indent="-285750">
              <a:buFont typeface="Calibri,Sans-Serif"/>
              <a:buChar char="-"/>
              <a:defRPr/>
            </a:pPr>
            <a:endParaRPr lang="en-US" b="1">
              <a:ea typeface="Calibri"/>
              <a:cs typeface="Calibri"/>
            </a:endParaRPr>
          </a:p>
          <a:p>
            <a:pPr>
              <a:buFont typeface="Calibri,Sans-Serif"/>
              <a:buChar char="-"/>
              <a:defRPr/>
            </a:pPr>
            <a:endParaRPr lang="en-US"/>
          </a:p>
        </p:txBody>
      </p:sp>
      <p:sp>
        <p:nvSpPr>
          <p:cNvPr id="127620805" name="Espace réservé du numéro de diapositive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ED9F3D29-5E90-42D2-A1A8-ECEBBDEB87CD}" type="slidenum">
              <a:rPr/>
              <a:t>6</a:t>
            </a:fld>
            <a:endParaRPr lang="fr-FR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4621977" name="Espace réservé de l'image des diapositives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62598974" name="Espace réservé des notes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 b="1">
              <a:ea typeface="Calibri"/>
              <a:cs typeface="Calibri"/>
            </a:endParaRPr>
          </a:p>
          <a:p>
            <a:pPr>
              <a:buFont typeface="Calibri,Sans-Serif"/>
              <a:buChar char="-"/>
              <a:defRPr/>
            </a:pPr>
            <a:endParaRPr lang="en-US"/>
          </a:p>
        </p:txBody>
      </p:sp>
      <p:sp>
        <p:nvSpPr>
          <p:cNvPr id="358815075" name="Espace réservé du numéro de diapositive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ED9F3D29-5E90-42D2-A1A8-ECEBBDEB87CD}" type="slidenum">
              <a:rPr/>
              <a:t>7</a:t>
            </a:fld>
            <a:endParaRPr lang="fr-F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Diapositive de tit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2904227" name="Titr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164032582" name="Sous-titr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fr-FR"/>
              <a:t>Modifiez le style des sous-titres du masque</a:t>
            </a:r>
            <a:endParaRPr/>
          </a:p>
        </p:txBody>
      </p:sp>
      <p:sp>
        <p:nvSpPr>
          <p:cNvPr id="2070326188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38941B0-F4D5-4460-BCAD-F7E2B41A8257}" type="datetimeFigureOut">
              <a:rPr lang="fr-FR"/>
              <a:t>28/03/2026</a:t>
            </a:fld>
            <a:endParaRPr lang="fr-FR"/>
          </a:p>
        </p:txBody>
      </p:sp>
      <p:sp>
        <p:nvSpPr>
          <p:cNvPr id="412848984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99578953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7C6CCC6-2BE5-4E42-96A4-D1E8E81A3D8E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re et contenu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976808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469690207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526234681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38941B0-F4D5-4460-BCAD-F7E2B41A8257}" type="datetimeFigureOut">
              <a:rPr lang="fr-FR"/>
              <a:t>28/03/2026</a:t>
            </a:fld>
            <a:endParaRPr lang="fr-FR"/>
          </a:p>
        </p:txBody>
      </p:sp>
      <p:sp>
        <p:nvSpPr>
          <p:cNvPr id="51558349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73443232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7C6CCC6-2BE5-4E42-96A4-D1E8E81A3D8E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Titre de sec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212773" name="Titr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66195904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328406837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38941B0-F4D5-4460-BCAD-F7E2B41A8257}" type="datetimeFigureOut">
              <a:rPr lang="fr-FR"/>
              <a:t>28/03/2026</a:t>
            </a:fld>
            <a:endParaRPr lang="fr-FR"/>
          </a:p>
        </p:txBody>
      </p:sp>
      <p:sp>
        <p:nvSpPr>
          <p:cNvPr id="97971030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284951248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7C6CCC6-2BE5-4E42-96A4-D1E8E81A3D8E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Deux contenu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3041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715810119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703095521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236257645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38941B0-F4D5-4460-BCAD-F7E2B41A8257}" type="datetimeFigureOut">
              <a:rPr lang="fr-FR"/>
              <a:t>28/03/2026</a:t>
            </a:fld>
            <a:endParaRPr lang="fr-FR"/>
          </a:p>
        </p:txBody>
      </p:sp>
      <p:sp>
        <p:nvSpPr>
          <p:cNvPr id="936544246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2070852873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7C6CCC6-2BE5-4E42-96A4-D1E8E81A3D8E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a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346003" name="Titr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205905640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446872553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730806346" name="Espace réservé du texte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707477287" name="Espace réservé du contenu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210984089" name="Espace réservé de la date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38941B0-F4D5-4460-BCAD-F7E2B41A8257}" type="datetimeFigureOut">
              <a:rPr lang="fr-FR"/>
              <a:t>28/03/2026</a:t>
            </a:fld>
            <a:endParaRPr lang="fr-FR"/>
          </a:p>
        </p:txBody>
      </p:sp>
      <p:sp>
        <p:nvSpPr>
          <p:cNvPr id="1002089667" name="Espace réservé du pied de page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980898088" name="Espace réservé du numéro de diapositive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7C6CCC6-2BE5-4E42-96A4-D1E8E81A3D8E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re seu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298058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729595501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38941B0-F4D5-4460-BCAD-F7E2B41A8257}" type="datetimeFigureOut">
              <a:rPr lang="fr-FR"/>
              <a:t>28/03/2026</a:t>
            </a:fld>
            <a:endParaRPr lang="fr-FR"/>
          </a:p>
        </p:txBody>
      </p:sp>
      <p:sp>
        <p:nvSpPr>
          <p:cNvPr id="548442568" name="Espace réservé du pied de page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465785686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7C6CCC6-2BE5-4E42-96A4-D1E8E81A3D8E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V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2026365" name="Espace réservé de la date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38941B0-F4D5-4460-BCAD-F7E2B41A8257}" type="datetimeFigureOut">
              <a:rPr lang="fr-FR"/>
              <a:t>28/03/2026</a:t>
            </a:fld>
            <a:endParaRPr lang="fr-FR"/>
          </a:p>
        </p:txBody>
      </p:sp>
      <p:sp>
        <p:nvSpPr>
          <p:cNvPr id="2055300676" name="Espace réservé du pied de page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409598905" name="Espace réservé du numéro de diapositive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7C6CCC6-2BE5-4E42-96A4-D1E8E81A3D8E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u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2949755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097895086" name="Espace réservé du contenu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43447991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17952774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38941B0-F4D5-4460-BCAD-F7E2B41A8257}" type="datetimeFigureOut">
              <a:rPr lang="fr-FR"/>
              <a:t>28/03/2026</a:t>
            </a:fld>
            <a:endParaRPr lang="fr-FR"/>
          </a:p>
        </p:txBody>
      </p:sp>
      <p:sp>
        <p:nvSpPr>
          <p:cNvPr id="194050457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87362261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7C6CCC6-2BE5-4E42-96A4-D1E8E81A3D8E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Image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633217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999057471" name="Espace réservé pour une image 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fr-FR"/>
          </a:p>
        </p:txBody>
      </p:sp>
      <p:sp>
        <p:nvSpPr>
          <p:cNvPr id="1634857697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639353094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38941B0-F4D5-4460-BCAD-F7E2B41A8257}" type="datetimeFigureOut">
              <a:rPr lang="fr-FR"/>
              <a:t>28/03/2026</a:t>
            </a:fld>
            <a:endParaRPr lang="fr-FR"/>
          </a:p>
        </p:txBody>
      </p:sp>
      <p:sp>
        <p:nvSpPr>
          <p:cNvPr id="1802445509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358822359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7C6CCC6-2BE5-4E42-96A4-D1E8E81A3D8E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re et texte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333039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761471801" name="Espace réservé du texte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521198003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38941B0-F4D5-4460-BCAD-F7E2B41A8257}" type="datetimeFigureOut">
              <a:rPr lang="fr-FR"/>
              <a:t>28/03/2026</a:t>
            </a:fld>
            <a:endParaRPr lang="fr-FR"/>
          </a:p>
        </p:txBody>
      </p:sp>
      <p:sp>
        <p:nvSpPr>
          <p:cNvPr id="1544752252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607878507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7C6CCC6-2BE5-4E42-96A4-D1E8E81A3D8E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Titre vertical et tex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899507" name="Titre vertica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2115130866" name="Espace réservé du texte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401422855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38941B0-F4D5-4460-BCAD-F7E2B41A8257}" type="datetimeFigureOut">
              <a:rPr lang="fr-FR"/>
              <a:t>28/03/2026</a:t>
            </a:fld>
            <a:endParaRPr lang="fr-FR"/>
          </a:p>
        </p:txBody>
      </p:sp>
      <p:sp>
        <p:nvSpPr>
          <p:cNvPr id="1530103374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244348732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7C6CCC6-2BE5-4E42-96A4-D1E8E81A3D8E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742702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04092357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756542850" name="Espace réservé de la date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638941B0-F4D5-4460-BCAD-F7E2B41A8257}" type="datetimeFigureOut">
              <a:rPr lang="fr-FR"/>
              <a:t>28/03/2026</a:t>
            </a:fld>
            <a:endParaRPr lang="fr-FR"/>
          </a:p>
        </p:txBody>
      </p:sp>
      <p:sp>
        <p:nvSpPr>
          <p:cNvPr id="1178001995" name="Espace réservé du pied de page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218295669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7C6CCC6-2BE5-4E42-96A4-D1E8E81A3D8E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10257" name="Titre 1"/>
          <p:cNvSpPr>
            <a:spLocks noGrp="1"/>
          </p:cNvSpPr>
          <p:nvPr>
            <p:ph type="ctrTitle"/>
          </p:nvPr>
        </p:nvSpPr>
        <p:spPr bwMode="auto">
          <a:xfrm>
            <a:off x="489858" y="1122363"/>
            <a:ext cx="11563046" cy="2387600"/>
          </a:xfrm>
        </p:spPr>
        <p:txBody>
          <a:bodyPr>
            <a:normAutofit/>
          </a:bodyPr>
          <a:lstStyle/>
          <a:p>
            <a:pPr algn="l">
              <a:defRPr/>
            </a:pPr>
            <a:r>
              <a:rPr lang="fr-FR" sz="5400" b="1">
                <a:solidFill>
                  <a:srgbClr val="00008B"/>
                </a:solidFill>
                <a:latin typeface="Consolas"/>
                <a:ea typeface="+mj-lt"/>
                <a:cs typeface="+mj-lt"/>
              </a:rPr>
              <a:t>Why Websites Never Save</a:t>
            </a:r>
            <a:br>
              <a:rPr lang="fr-FR" sz="5400" b="1">
                <a:latin typeface="Consolas"/>
                <a:ea typeface="+mj-lt"/>
                <a:cs typeface="+mj-lt"/>
              </a:rPr>
            </a:br>
            <a:r>
              <a:rPr lang="fr-FR" sz="5400" b="1">
                <a:solidFill>
                  <a:srgbClr val="00008B"/>
                </a:solidFill>
                <a:latin typeface="Consolas"/>
                <a:ea typeface="+mj-lt"/>
                <a:cs typeface="+mj-lt"/>
              </a:rPr>
              <a:t>Your Passwords</a:t>
            </a:r>
            <a:endParaRPr lang="fr-FR" sz="5400" b="1">
              <a:solidFill>
                <a:srgbClr val="00008B"/>
              </a:solidFill>
              <a:latin typeface="Consolas"/>
              <a:cs typeface="Courier New"/>
            </a:endParaRPr>
          </a:p>
        </p:txBody>
      </p:sp>
      <p:sp>
        <p:nvSpPr>
          <p:cNvPr id="1007090399" name="Sous-titre 2"/>
          <p:cNvSpPr>
            <a:spLocks noGrp="1"/>
          </p:cNvSpPr>
          <p:nvPr>
            <p:ph type="subTitle" idx="1"/>
          </p:nvPr>
        </p:nvSpPr>
        <p:spPr bwMode="auto">
          <a:xfrm>
            <a:off x="489857" y="3655642"/>
            <a:ext cx="9144000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>
              <a:defRPr/>
            </a:pPr>
            <a:r>
              <a:rPr lang="fr-FR" sz="3200" b="1">
                <a:latin typeface="Consolas"/>
                <a:ea typeface="+mn-lt"/>
                <a:cs typeface="+mn-lt"/>
              </a:rPr>
              <a:t>How authentication works in the backend</a:t>
            </a:r>
            <a:endParaRPr/>
          </a:p>
        </p:txBody>
      </p:sp>
      <p:pic>
        <p:nvPicPr>
          <p:cNvPr id="355031107" name="Picture 4" descr="A black and blue text on a black background&#10;&#10;AI-generated content may be incorrect.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819492" y="-244021"/>
            <a:ext cx="1242786" cy="1206501"/>
          </a:xfrm>
          <a:prstGeom prst="rect">
            <a:avLst/>
          </a:prstGeom>
        </p:spPr>
      </p:pic>
      <p:cxnSp>
        <p:nvCxnSpPr>
          <p:cNvPr id="1103364739" name="Straight Arrow Connector 5"/>
          <p:cNvCxnSpPr/>
          <p:nvPr/>
        </p:nvCxnSpPr>
        <p:spPr bwMode="auto">
          <a:xfrm>
            <a:off x="581380" y="4393132"/>
            <a:ext cx="8689615" cy="44029"/>
          </a:xfrm>
          <a:prstGeom prst="straightConnector1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53161379" name="TextBox 6"/>
          <p:cNvSpPr txBox="1"/>
          <p:nvPr/>
        </p:nvSpPr>
        <p:spPr bwMode="auto">
          <a:xfrm>
            <a:off x="489856" y="5965506"/>
            <a:ext cx="764735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r>
              <a:rPr lang="en-US" b="1">
                <a:latin typeface="Consolas"/>
              </a:rPr>
              <a:t>&gt;  Author: Arnaud Gomes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:fade/>
      </p:transition>
    </mc:Choice>
    <mc:Fallback xmlns:w="http://schemas.openxmlformats.org/wordprocessingml/2006/main" xmlns:m="http://schemas.openxmlformats.org/officeDocument/2006/math" xmlns="">
      <p:transition spd="fast" advClick="1">
        <p:fade thruBlk="0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0454165" name="Titre 1"/>
          <p:cNvSpPr>
            <a:spLocks noGrp="1"/>
          </p:cNvSpPr>
          <p:nvPr>
            <p:ph type="title" idx="4294967295"/>
          </p:nvPr>
        </p:nvSpPr>
        <p:spPr bwMode="auto">
          <a:xfrm>
            <a:off x="348343" y="307068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fr-FR" b="1">
                <a:latin typeface="Consolas"/>
                <a:cs typeface="Courier New"/>
              </a:rPr>
              <a:t>The Plaintext Problem</a:t>
            </a:r>
            <a:endParaRPr/>
          </a:p>
        </p:txBody>
      </p:sp>
      <p:pic>
        <p:nvPicPr>
          <p:cNvPr id="912627149" name="Picture 16" descr="A black and blue text on a black background&#10;&#10;AI-generated content may be incorrect.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819492" y="-244021"/>
            <a:ext cx="1242786" cy="1206501"/>
          </a:xfrm>
          <a:prstGeom prst="rect">
            <a:avLst/>
          </a:prstGeom>
        </p:spPr>
      </p:pic>
      <p:sp>
        <p:nvSpPr>
          <p:cNvPr id="1797239890" name="TextBox 7"/>
          <p:cNvSpPr txBox="1"/>
          <p:nvPr/>
        </p:nvSpPr>
        <p:spPr bwMode="auto">
          <a:xfrm>
            <a:off x="5052558" y="2121219"/>
            <a:ext cx="6959926" cy="27699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Exact input = Exact database record</a:t>
            </a:r>
          </a:p>
          <a:p>
            <a:pPr marL="285750" indent="-285750">
              <a:buFont typeface="Calibri"/>
              <a:buChar char="-"/>
              <a:defRPr/>
            </a:pPr>
            <a:endParaRPr lang="en-US" sz="2400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One breach = Total Database Compromise</a:t>
            </a:r>
          </a:p>
          <a:p>
            <a:pPr marL="285750" indent="-285750">
              <a:buFont typeface="Calibri"/>
              <a:buChar char="-"/>
              <a:defRPr/>
            </a:pPr>
            <a:endParaRPr lang="en-US" sz="2400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NEVER leave passwords in plaintext</a:t>
            </a:r>
            <a:endParaRPr/>
          </a:p>
          <a:p>
            <a:pPr marL="285750" indent="-285750">
              <a:buFont typeface="Calibri"/>
              <a:buChar char="-"/>
              <a:defRPr/>
            </a:pPr>
            <a:endParaRPr lang="en-US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endParaRPr lang="en-US" b="1">
              <a:latin typeface="Consolas"/>
            </a:endParaRPr>
          </a:p>
          <a:p>
            <a:pPr>
              <a:defRPr/>
            </a:pPr>
            <a:endParaRPr lang="en-US" b="1">
              <a:latin typeface="Consolas"/>
            </a:endParaRPr>
          </a:p>
        </p:txBody>
      </p:sp>
      <p:graphicFrame>
        <p:nvGraphicFramePr>
          <p:cNvPr id="2027582524" name="Table 7"/>
          <p:cNvGraphicFramePr>
            <a:graphicFrameLocks noGrp="1"/>
          </p:cNvGraphicFramePr>
          <p:nvPr/>
        </p:nvGraphicFramePr>
        <p:xfrm>
          <a:off x="1085157" y="1640240"/>
          <a:ext cx="3799244" cy="3485787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8887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04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6192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b="1" i="0">
                          <a:latin typeface="Consolas"/>
                        </a:rPr>
                        <a:t>Username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b="1" i="0">
                          <a:latin typeface="Consolas"/>
                        </a:rPr>
                        <a:t>Password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1929">
                <a:tc>
                  <a:txBody>
                    <a:bodyPr/>
                    <a:lstStyle/>
                    <a:p>
                      <a:pPr marL="0" indent="0" algn="ctr">
                        <a:buNone/>
                        <a:defRPr/>
                      </a:pPr>
                      <a:r>
                        <a:rPr lang="en-US"/>
                        <a:t>admin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b="1" i="0">
                          <a:latin typeface="Consolas"/>
                        </a:rPr>
                        <a:t>admin67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6192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charlie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b="1" i="0">
                          <a:latin typeface="Consolas"/>
                        </a:rPr>
                        <a:t>cats123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92265927" name="Rectangle 9"/>
          <p:cNvSpPr/>
          <p:nvPr/>
        </p:nvSpPr>
        <p:spPr bwMode="auto">
          <a:xfrm>
            <a:off x="2993507" y="1644355"/>
            <a:ext cx="1897723" cy="348564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:fade/>
      </p:transition>
    </mc:Choice>
    <mc:Fallback xmlns:w="http://schemas.openxmlformats.org/wordprocessingml/2006/main" xmlns:m="http://schemas.openxmlformats.org/officeDocument/2006/math" xmlns="">
      <p:transition spd="fast" advClick="1">
        <p:fade thruBlk="0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9825436" name="Titre 1"/>
          <p:cNvSpPr>
            <a:spLocks noGrp="1"/>
          </p:cNvSpPr>
          <p:nvPr>
            <p:ph type="title" idx="4294967295"/>
          </p:nvPr>
        </p:nvSpPr>
        <p:spPr bwMode="auto">
          <a:xfrm>
            <a:off x="348343" y="307068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fr-FR" b="1">
                <a:latin typeface="Consolas"/>
                <a:cs typeface="Courier New"/>
              </a:rPr>
              <a:t>Hashing Algorithms</a:t>
            </a:r>
            <a:endParaRPr b="1"/>
          </a:p>
        </p:txBody>
      </p:sp>
      <p:pic>
        <p:nvPicPr>
          <p:cNvPr id="1436436534" name="Picture 16" descr="A black and blue text on a black background&#10;&#10;AI-generated content may be incorrect.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819492" y="-244021"/>
            <a:ext cx="1242786" cy="1206501"/>
          </a:xfrm>
          <a:prstGeom prst="rect">
            <a:avLst/>
          </a:prstGeom>
        </p:spPr>
      </p:pic>
      <p:sp>
        <p:nvSpPr>
          <p:cNvPr id="1529693048" name="TextBox 7"/>
          <p:cNvSpPr txBox="1"/>
          <p:nvPr/>
        </p:nvSpPr>
        <p:spPr bwMode="auto">
          <a:xfrm>
            <a:off x="407512" y="1632293"/>
            <a:ext cx="10256829" cy="249299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One-way mathematical function</a:t>
            </a:r>
          </a:p>
          <a:p>
            <a:pPr marL="285750" indent="-285750">
              <a:buFont typeface="Calibri"/>
              <a:buChar char="-"/>
              <a:defRPr/>
            </a:pPr>
            <a:endParaRPr lang="en-US" sz="2400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Fixed-length</a:t>
            </a:r>
            <a:r>
              <a:rPr lang="en-US" sz="2400" b="1">
                <a:latin typeface="Consolas"/>
                <a:ea typeface="+mn-lt"/>
                <a:cs typeface="+mn-lt"/>
              </a:rPr>
              <a:t>, chaotic string</a:t>
            </a:r>
            <a:endParaRPr lang="en-US" sz="2400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endParaRPr lang="en-US" sz="2400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Compare hashes, never see the password</a:t>
            </a:r>
            <a:endParaRPr/>
          </a:p>
          <a:p>
            <a:pPr marL="285750" indent="-285750">
              <a:buFont typeface="Calibri"/>
              <a:buChar char="-"/>
              <a:defRPr/>
            </a:pPr>
            <a:endParaRPr lang="en-US" b="1">
              <a:latin typeface="Consolas"/>
            </a:endParaRPr>
          </a:p>
          <a:p>
            <a:pPr>
              <a:defRPr/>
            </a:pPr>
            <a:endParaRPr lang="en-US" b="1">
              <a:latin typeface="Consolas"/>
            </a:endParaRPr>
          </a:p>
        </p:txBody>
      </p:sp>
      <p:pic>
        <p:nvPicPr>
          <p:cNvPr id="318032922" name="Picture 6" descr="A diagram of a road&#10;&#10;AI-generated content may be incorrect."/>
          <p:cNvPicPr>
            <a:picLocks noChangeAspect="1"/>
          </p:cNvPicPr>
          <p:nvPr/>
        </p:nvPicPr>
        <p:blipFill rotWithShape="1">
          <a:blip r:embed="rId4"/>
          <a:srcRect l="6952" t="31703" r="7122" b="15980"/>
          <a:stretch/>
        </p:blipFill>
        <p:spPr bwMode="auto">
          <a:xfrm>
            <a:off x="2963492" y="3777649"/>
            <a:ext cx="5745455" cy="2443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:fade/>
      </p:transition>
    </mc:Choice>
    <mc:Fallback xmlns:w="http://schemas.openxmlformats.org/wordprocessingml/2006/main" xmlns:m="http://schemas.openxmlformats.org/officeDocument/2006/math" xmlns="">
      <p:transition spd="fast" advClick="1">
        <p:fade thruBlk="0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1056421" name="Titre 1"/>
          <p:cNvSpPr>
            <a:spLocks noGrp="1"/>
          </p:cNvSpPr>
          <p:nvPr>
            <p:ph type="title" idx="4294967295"/>
          </p:nvPr>
        </p:nvSpPr>
        <p:spPr bwMode="auto">
          <a:xfrm>
            <a:off x="348343" y="307068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fr-FR" b="1">
                <a:latin typeface="Consolas"/>
                <a:ea typeface="+mj-lt"/>
                <a:cs typeface="Courier New"/>
              </a:rPr>
              <a:t>Hashing: The Database View</a:t>
            </a:r>
            <a:endParaRPr lang="fr-FR">
              <a:latin typeface="Aptos Display"/>
              <a:ea typeface="+mj-lt"/>
              <a:cs typeface="Courier New"/>
            </a:endParaRPr>
          </a:p>
        </p:txBody>
      </p:sp>
      <p:pic>
        <p:nvPicPr>
          <p:cNvPr id="1058541677" name="Picture 16" descr="A black and blue text on a black background&#10;&#10;AI-generated content may be incorrect.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819492" y="-244021"/>
            <a:ext cx="1242786" cy="1206501"/>
          </a:xfrm>
          <a:prstGeom prst="rect">
            <a:avLst/>
          </a:prstGeom>
        </p:spPr>
      </p:pic>
      <p:sp>
        <p:nvSpPr>
          <p:cNvPr id="1838905575" name="TextBox 7"/>
          <p:cNvSpPr txBox="1"/>
          <p:nvPr/>
        </p:nvSpPr>
        <p:spPr bwMode="auto">
          <a:xfrm>
            <a:off x="5424899" y="2355015"/>
            <a:ext cx="6639541" cy="27699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Plaintext exists ONLY in RAM</a:t>
            </a:r>
          </a:p>
          <a:p>
            <a:pPr marL="285750" indent="-285750">
              <a:buFont typeface="Calibri"/>
              <a:buChar char="-"/>
              <a:defRPr/>
            </a:pPr>
            <a:endParaRPr lang="en-US" sz="2400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Database stores ONLY the hash</a:t>
            </a:r>
          </a:p>
          <a:p>
            <a:pPr marL="285750" indent="-285750">
              <a:buFont typeface="Calibri"/>
              <a:buChar char="-"/>
              <a:defRPr/>
            </a:pPr>
            <a:endParaRPr lang="en-US" sz="2400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Match input hash vs. stored hash</a:t>
            </a:r>
            <a:endParaRPr/>
          </a:p>
          <a:p>
            <a:pPr marL="285750" indent="-285750">
              <a:buFont typeface="Calibri"/>
              <a:buChar char="-"/>
              <a:defRPr/>
            </a:pPr>
            <a:endParaRPr lang="en-US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endParaRPr lang="en-US" b="1">
              <a:latin typeface="Consolas"/>
            </a:endParaRPr>
          </a:p>
          <a:p>
            <a:pPr>
              <a:defRPr/>
            </a:pPr>
            <a:endParaRPr lang="en-US" b="1">
              <a:latin typeface="Consolas"/>
            </a:endParaRPr>
          </a:p>
        </p:txBody>
      </p:sp>
      <p:graphicFrame>
        <p:nvGraphicFramePr>
          <p:cNvPr id="655621744" name="Table 7"/>
          <p:cNvGraphicFramePr>
            <a:graphicFrameLocks noGrp="1"/>
          </p:cNvGraphicFramePr>
          <p:nvPr/>
        </p:nvGraphicFramePr>
        <p:xfrm>
          <a:off x="421499" y="1884594"/>
          <a:ext cx="4586009" cy="430658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396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1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1316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b="1" i="0">
                          <a:latin typeface="Consolas"/>
                        </a:rPr>
                        <a:t>Username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b="1" i="0">
                          <a:latin typeface="Consolas"/>
                        </a:rPr>
                        <a:t>Password</a:t>
                      </a:r>
                      <a:br>
                        <a:rPr lang="en-US" b="1" i="0">
                          <a:latin typeface="Consolas"/>
                        </a:rPr>
                      </a:br>
                      <a:r>
                        <a:rPr lang="en-US" b="1" i="0">
                          <a:latin typeface="Consolas"/>
                        </a:rPr>
                        <a:t>(Plaintext)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b="1" i="0">
                          <a:latin typeface="Consolas"/>
                        </a:rPr>
                        <a:t>Password</a:t>
                      </a:r>
                      <a:endParaRPr/>
                    </a:p>
                    <a:p>
                      <a:pPr lvl="0" algn="ctr">
                        <a:buNone/>
                        <a:defRPr/>
                      </a:pPr>
                      <a:r>
                        <a:rPr lang="en-US" b="1" i="0">
                          <a:latin typeface="Consolas"/>
                        </a:rPr>
                        <a:t>(Hashed)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marL="0" indent="0" algn="ctr">
                        <a:buNone/>
                        <a:defRPr/>
                      </a:pPr>
                      <a:r>
                        <a:rPr lang="en-US"/>
                        <a:t>admin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b="0" i="1">
                          <a:latin typeface="Consolas"/>
                        </a:rPr>
                        <a:t>admin67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800" b="1" i="0" u="none" strike="noStrike">
                          <a:latin typeface="Consolas"/>
                        </a:rPr>
                        <a:t>5897cfa...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charlie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b="0" i="1" u="none">
                          <a:latin typeface="Consolas"/>
                        </a:rPr>
                        <a:t>cats123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800" b="1" i="0" u="none" strike="noStrike">
                          <a:latin typeface="Consolas"/>
                        </a:rPr>
                        <a:t>f6d4692...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/>
                        <a:t>alice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b="0" i="1">
                          <a:latin typeface="Consolas"/>
                        </a:rPr>
                        <a:t>cats123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latin typeface="Consolas"/>
                        </a:rPr>
                        <a:t>f6d4692...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/>
                        <a:t>bob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b="0" i="1">
                          <a:latin typeface="Consolas"/>
                        </a:rPr>
                        <a:t>p@ssword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800" b="1" i="0" u="none" strike="noStrike">
                          <a:latin typeface="Consolas"/>
                        </a:rPr>
                        <a:t>0fd2059...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3353905" name="Rectangle 6"/>
          <p:cNvSpPr/>
          <p:nvPr/>
        </p:nvSpPr>
        <p:spPr bwMode="auto">
          <a:xfrm>
            <a:off x="1816991" y="1896745"/>
            <a:ext cx="1719157" cy="431912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827194933" name="TextBox 8"/>
          <p:cNvSpPr txBox="1"/>
          <p:nvPr/>
        </p:nvSpPr>
        <p:spPr bwMode="auto">
          <a:xfrm>
            <a:off x="1817261" y="1522658"/>
            <a:ext cx="173554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defRPr/>
            </a:pPr>
            <a:r>
              <a:rPr lang="en-US" b="1">
                <a:solidFill>
                  <a:srgbClr val="FF0000"/>
                </a:solidFill>
                <a:latin typeface="Consolas"/>
              </a:rPr>
              <a:t>RAM ONLY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:fade/>
      </p:transition>
    </mc:Choice>
    <mc:Fallback xmlns:w="http://schemas.openxmlformats.org/wordprocessingml/2006/main" xmlns:m="http://schemas.openxmlformats.org/officeDocument/2006/math" xmlns="">
      <p:transition spd="fast" advClick="1">
        <p:fade thruBlk="0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3527836" name="Titre 1"/>
          <p:cNvSpPr>
            <a:spLocks noGrp="1"/>
          </p:cNvSpPr>
          <p:nvPr>
            <p:ph type="title" idx="4294967295"/>
          </p:nvPr>
        </p:nvSpPr>
        <p:spPr bwMode="auto">
          <a:xfrm>
            <a:off x="348343" y="307068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fr-FR" b="1">
                <a:latin typeface="Consolas"/>
                <a:ea typeface="+mj-lt"/>
                <a:cs typeface="Courier New"/>
              </a:rPr>
              <a:t>Hashing Limitations</a:t>
            </a:r>
            <a:endParaRPr/>
          </a:p>
        </p:txBody>
      </p:sp>
      <p:pic>
        <p:nvPicPr>
          <p:cNvPr id="692142616" name="Picture 16" descr="A black and blue text on a black background&#10;&#10;AI-generated content may be incorrect.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819492" y="-244021"/>
            <a:ext cx="1242786" cy="1206501"/>
          </a:xfrm>
          <a:prstGeom prst="rect">
            <a:avLst/>
          </a:prstGeom>
        </p:spPr>
      </p:pic>
      <p:sp>
        <p:nvSpPr>
          <p:cNvPr id="473833024" name="TextBox 7"/>
          <p:cNvSpPr txBox="1"/>
          <p:nvPr/>
        </p:nvSpPr>
        <p:spPr bwMode="auto">
          <a:xfrm>
            <a:off x="4865834" y="2264650"/>
            <a:ext cx="7206155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Deterministic, Same input = Same output</a:t>
            </a:r>
          </a:p>
          <a:p>
            <a:pPr marL="285750" indent="-285750">
              <a:buFont typeface="Calibri"/>
              <a:buChar char="-"/>
              <a:defRPr/>
            </a:pPr>
            <a:endParaRPr lang="en-US" sz="2400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Identical passwords are exposed</a:t>
            </a:r>
          </a:p>
          <a:p>
            <a:pPr marL="285750" indent="-285750">
              <a:buFont typeface="Calibri"/>
              <a:buChar char="-"/>
              <a:defRPr/>
            </a:pPr>
            <a:endParaRPr lang="en-US" sz="2400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"Rainbow Tables", dictionaries with common passwords and their hashes</a:t>
            </a:r>
            <a:endParaRPr/>
          </a:p>
          <a:p>
            <a:pPr marL="285750" indent="-285750">
              <a:buFont typeface="Calibri"/>
              <a:buChar char="-"/>
              <a:defRPr/>
            </a:pPr>
            <a:endParaRPr lang="en-US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endParaRPr lang="en-US" b="1">
              <a:latin typeface="Consolas"/>
            </a:endParaRPr>
          </a:p>
          <a:p>
            <a:pPr>
              <a:defRPr/>
            </a:pPr>
            <a:endParaRPr lang="en-US" b="1">
              <a:latin typeface="Consolas"/>
            </a:endParaRPr>
          </a:p>
        </p:txBody>
      </p:sp>
      <p:graphicFrame>
        <p:nvGraphicFramePr>
          <p:cNvPr id="227650112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0080851"/>
              </p:ext>
            </p:extLst>
          </p:nvPr>
        </p:nvGraphicFramePr>
        <p:xfrm>
          <a:off x="352094" y="1630594"/>
          <a:ext cx="4401414" cy="430658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439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2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8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1316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b="1" i="0">
                          <a:latin typeface="Consolas"/>
                        </a:rPr>
                        <a:t>Username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b="1" i="0">
                          <a:latin typeface="Consolas"/>
                        </a:rPr>
                        <a:t>Password</a:t>
                      </a:r>
                      <a:br>
                        <a:rPr lang="en-US" b="1" i="0" dirty="0">
                          <a:latin typeface="Consolas"/>
                        </a:rPr>
                      </a:br>
                      <a:r>
                        <a:rPr lang="en-US" b="1" i="0">
                          <a:latin typeface="Consolas"/>
                        </a:rPr>
                        <a:t>(Plaintext)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b="1" i="0">
                          <a:latin typeface="Consolas"/>
                        </a:rPr>
                        <a:t>Password</a:t>
                      </a:r>
                      <a:endParaRPr/>
                    </a:p>
                    <a:p>
                      <a:pPr lvl="0" algn="ctr">
                        <a:buNone/>
                        <a:defRPr/>
                      </a:pPr>
                      <a:r>
                        <a:rPr lang="en-US" b="1" i="0">
                          <a:latin typeface="Consolas"/>
                        </a:rPr>
                        <a:t>(Hashed)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marL="0" indent="0" algn="ctr">
                        <a:buNone/>
                        <a:defRPr/>
                      </a:pPr>
                      <a:r>
                        <a:rPr lang="en-US"/>
                        <a:t>admin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b="0" i="1">
                          <a:latin typeface="Consolas"/>
                        </a:rPr>
                        <a:t>admin67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800" b="1" i="0" u="none" strike="noStrike">
                          <a:latin typeface="Consolas"/>
                        </a:rPr>
                        <a:t>5897cfa...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dirty="0" err="1"/>
                        <a:t>charlie</a:t>
                      </a:r>
                      <a:endParaRPr dirty="0" err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b="0" i="1">
                          <a:latin typeface="Consolas"/>
                        </a:rPr>
                        <a:t>cats123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800" b="1" i="0" u="none" strike="noStrike">
                          <a:latin typeface="Consolas"/>
                        </a:rPr>
                        <a:t>f6d4692...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dirty="0" err="1"/>
                        <a:t>alice</a:t>
                      </a:r>
                      <a:endParaRPr dirty="0" err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b="0" i="1">
                          <a:latin typeface="Consolas"/>
                        </a:rPr>
                        <a:t>cats123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latin typeface="Consolas"/>
                        </a:rPr>
                        <a:t>f6d4692...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/>
                        <a:t>bob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b="0" i="1" dirty="0" err="1">
                          <a:latin typeface="Consolas"/>
                        </a:rPr>
                        <a:t>p@ssword</a:t>
                      </a:r>
                      <a:endParaRPr dirty="0" err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800" b="1" i="0" u="none" strike="noStrike">
                          <a:latin typeface="Consolas"/>
                        </a:rPr>
                        <a:t>0fd2059...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4236641" name="Rectangle 3"/>
          <p:cNvSpPr/>
          <p:nvPr/>
        </p:nvSpPr>
        <p:spPr bwMode="auto">
          <a:xfrm>
            <a:off x="351389" y="3337044"/>
            <a:ext cx="4389677" cy="172916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:fade/>
      </p:transition>
    </mc:Choice>
    <mc:Fallback xmlns:w="http://schemas.openxmlformats.org/wordprocessingml/2006/main" xmlns:m="http://schemas.openxmlformats.org/officeDocument/2006/math" xmlns="">
      <p:transition spd="fast" advClick="1">
        <p:fade thruBlk="0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291197" name="Titre 1"/>
          <p:cNvSpPr>
            <a:spLocks noGrp="1"/>
          </p:cNvSpPr>
          <p:nvPr>
            <p:ph type="title" idx="4294967295"/>
          </p:nvPr>
        </p:nvSpPr>
        <p:spPr bwMode="auto">
          <a:xfrm>
            <a:off x="348343" y="307068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fr-FR" b="1">
                <a:latin typeface="Consolas"/>
                <a:cs typeface="Courier New"/>
              </a:rPr>
              <a:t>Salting Implementation</a:t>
            </a:r>
            <a:endParaRPr/>
          </a:p>
        </p:txBody>
      </p:sp>
      <p:pic>
        <p:nvPicPr>
          <p:cNvPr id="203499828" name="Picture 16" descr="A black and blue text on a black background&#10;&#10;AI-generated content may be incorrect.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819492" y="-244021"/>
            <a:ext cx="1242786" cy="1206501"/>
          </a:xfrm>
          <a:prstGeom prst="rect">
            <a:avLst/>
          </a:prstGeom>
        </p:spPr>
      </p:pic>
      <p:sp>
        <p:nvSpPr>
          <p:cNvPr id="929387437" name="TextBox 7"/>
          <p:cNvSpPr txBox="1"/>
          <p:nvPr/>
        </p:nvSpPr>
        <p:spPr bwMode="auto">
          <a:xfrm>
            <a:off x="6230193" y="2112560"/>
            <a:ext cx="5894860" cy="3508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Password + Unique Random Salt</a:t>
            </a:r>
            <a:endParaRPr lang="en-US"/>
          </a:p>
          <a:p>
            <a:pPr>
              <a:defRPr/>
            </a:pPr>
            <a:r>
              <a:rPr lang="en-US" sz="2400" b="1">
                <a:latin typeface="Consolas"/>
              </a:rPr>
              <a:t>  = Hash</a:t>
            </a:r>
            <a:endParaRPr lang="en-US"/>
          </a:p>
          <a:p>
            <a:pPr marL="285750" indent="-285750">
              <a:buFont typeface="Calibri"/>
              <a:buChar char="-"/>
              <a:defRPr/>
            </a:pPr>
            <a:endParaRPr lang="en-US" sz="2400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Salt saved alongside the hash</a:t>
            </a:r>
          </a:p>
          <a:p>
            <a:pPr marL="285750" indent="-285750">
              <a:buFont typeface="Calibri"/>
              <a:buChar char="-"/>
              <a:defRPr/>
            </a:pPr>
            <a:endParaRPr lang="en-US" sz="2400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Identical passwords, different hashes</a:t>
            </a:r>
            <a:endParaRPr/>
          </a:p>
          <a:p>
            <a:pPr>
              <a:defRPr/>
            </a:pPr>
            <a:endParaRPr lang="en-US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endParaRPr lang="en-US" b="1">
              <a:latin typeface="Consolas"/>
            </a:endParaRPr>
          </a:p>
          <a:p>
            <a:pPr>
              <a:defRPr/>
            </a:pPr>
            <a:endParaRPr lang="en-US" b="1">
              <a:latin typeface="Consolas"/>
            </a:endParaRPr>
          </a:p>
        </p:txBody>
      </p:sp>
      <p:graphicFrame>
        <p:nvGraphicFramePr>
          <p:cNvPr id="823103249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577786"/>
              </p:ext>
            </p:extLst>
          </p:nvPr>
        </p:nvGraphicFramePr>
        <p:xfrm>
          <a:off x="438685" y="1717185"/>
          <a:ext cx="5718599" cy="430658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439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7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68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38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316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b="1" i="0">
                          <a:latin typeface="Consolas"/>
                        </a:rPr>
                        <a:t>Username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b="1" i="0">
                          <a:latin typeface="Consolas"/>
                        </a:rPr>
                        <a:t>Password</a:t>
                      </a:r>
                      <a:br>
                        <a:rPr lang="en-US" b="1" i="0" dirty="0">
                          <a:latin typeface="Consolas"/>
                        </a:rPr>
                      </a:br>
                      <a:r>
                        <a:rPr lang="en-US" b="1" i="0">
                          <a:latin typeface="Consolas"/>
                        </a:rPr>
                        <a:t>(Plaintext)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b="1" i="0">
                          <a:latin typeface="Consolas"/>
                        </a:rPr>
                        <a:t>Salt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b="1" i="0">
                          <a:latin typeface="Consolas"/>
                        </a:rPr>
                        <a:t>Password</a:t>
                      </a:r>
                      <a:endParaRPr/>
                    </a:p>
                    <a:p>
                      <a:pPr lvl="0" algn="ctr">
                        <a:buNone/>
                        <a:defRPr/>
                      </a:pPr>
                      <a:r>
                        <a:rPr lang="en-US" b="1" i="0">
                          <a:latin typeface="Consolas"/>
                        </a:rPr>
                        <a:t>(Hashed)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marL="0" indent="0" algn="ctr">
                        <a:buNone/>
                        <a:defRPr/>
                      </a:pPr>
                      <a:r>
                        <a:rPr lang="en-US"/>
                        <a:t>admin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b="0" i="1">
                          <a:latin typeface="Consolas"/>
                        </a:rPr>
                        <a:t>admin67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800" b="1" i="0" u="none" strike="noStrike">
                          <a:latin typeface="Consolas"/>
                        </a:rPr>
                        <a:t>8xF2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800" b="1" i="0" u="none" strike="noStrike">
                          <a:latin typeface="Consolas"/>
                        </a:rPr>
                        <a:t>b3664aba...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dirty="0" err="1"/>
                        <a:t>charlie</a:t>
                      </a:r>
                      <a:endParaRPr dirty="0" err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b="0" i="1">
                          <a:latin typeface="Consolas"/>
                        </a:rPr>
                        <a:t>cats123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800" b="1" i="0" u="none" strike="noStrike">
                          <a:latin typeface="Consolas"/>
                        </a:rPr>
                        <a:t>a7d9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800" b="1" i="0" u="none" strike="noStrike">
                          <a:latin typeface="Consolas"/>
                        </a:rPr>
                        <a:t>34b60fbf...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dirty="0" err="1"/>
                        <a:t>alice</a:t>
                      </a:r>
                      <a:endParaRPr dirty="0" err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b="0" i="1">
                          <a:latin typeface="Consolas"/>
                        </a:rPr>
                        <a:t>cats123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latin typeface="Consolas"/>
                        </a:rPr>
                        <a:t>1yZ5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latin typeface="Consolas"/>
                        </a:rPr>
                        <a:t>46346c13...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/>
                        <a:t>bob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b="0" i="1" dirty="0" err="1">
                          <a:latin typeface="Consolas"/>
                        </a:rPr>
                        <a:t>p@ssword</a:t>
                      </a:r>
                      <a:endParaRPr dirty="0" err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800" b="1" i="0" u="none" strike="noStrike">
                          <a:latin typeface="Consolas"/>
                        </a:rPr>
                        <a:t>3mK8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800" b="1" i="0" u="none" strike="noStrike">
                          <a:latin typeface="Consolas"/>
                        </a:rPr>
                        <a:t>4e00b7af...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87772791" name="Rectangle 3"/>
          <p:cNvSpPr/>
          <p:nvPr/>
        </p:nvSpPr>
        <p:spPr bwMode="auto">
          <a:xfrm>
            <a:off x="438199" y="3423854"/>
            <a:ext cx="5720765" cy="1729166"/>
          </a:xfrm>
          <a:prstGeom prst="rect">
            <a:avLst/>
          </a:prstGeom>
          <a:noFill/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:fade/>
      </p:transition>
    </mc:Choice>
    <mc:Fallback xmlns:w="http://schemas.openxmlformats.org/wordprocessingml/2006/main" xmlns:m="http://schemas.openxmlformats.org/officeDocument/2006/math" xmlns="">
      <p:transition spd="fast" advClick="1">
        <p:fade thruBlk="0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71501" name="Titre 1"/>
          <p:cNvSpPr>
            <a:spLocks noGrp="1"/>
          </p:cNvSpPr>
          <p:nvPr>
            <p:ph type="title" idx="4294967295"/>
          </p:nvPr>
        </p:nvSpPr>
        <p:spPr bwMode="auto">
          <a:xfrm>
            <a:off x="348343" y="307068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fr-FR" b="1">
                <a:latin typeface="Consolas"/>
                <a:cs typeface="Courier New"/>
              </a:rPr>
              <a:t>Summary</a:t>
            </a:r>
            <a:endParaRPr/>
          </a:p>
        </p:txBody>
      </p:sp>
      <p:pic>
        <p:nvPicPr>
          <p:cNvPr id="601405142" name="Picture 16" descr="A black and blue text on a black background&#10;&#10;AI-generated content may be incorrect.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819492" y="-244021"/>
            <a:ext cx="1242786" cy="1206501"/>
          </a:xfrm>
          <a:prstGeom prst="rect">
            <a:avLst/>
          </a:prstGeom>
        </p:spPr>
      </p:pic>
      <p:sp>
        <p:nvSpPr>
          <p:cNvPr id="1532756280" name="TextBox 7"/>
          <p:cNvSpPr txBox="1"/>
          <p:nvPr/>
        </p:nvSpPr>
        <p:spPr bwMode="auto">
          <a:xfrm>
            <a:off x="350671" y="1644969"/>
            <a:ext cx="10977746" cy="32316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Never store raw passwords</a:t>
            </a:r>
          </a:p>
          <a:p>
            <a:pPr marL="285750" indent="-285750">
              <a:buFont typeface="Calibri"/>
              <a:buChar char="-"/>
              <a:defRPr/>
            </a:pPr>
            <a:endParaRPr lang="en-US" sz="2400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Hashing: One-way mathematical signature</a:t>
            </a:r>
          </a:p>
          <a:p>
            <a:pPr marL="285750" indent="-285750">
              <a:buFont typeface="Calibri"/>
              <a:buChar char="-"/>
              <a:defRPr/>
            </a:pPr>
            <a:endParaRPr lang="en-US" sz="2400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Salting: Guarantees unique values for every user</a:t>
            </a:r>
            <a:endParaRPr lang="en-US"/>
          </a:p>
          <a:p>
            <a:pPr marL="285750" indent="-285750">
              <a:buFont typeface="Calibri"/>
              <a:buChar char="-"/>
              <a:defRPr/>
            </a:pPr>
            <a:endParaRPr lang="en-US" sz="2400" b="1">
              <a:latin typeface="Consolas"/>
            </a:endParaRPr>
          </a:p>
          <a:p>
            <a:pPr marL="285750" indent="-285750">
              <a:buFont typeface="Calibri"/>
              <a:buChar char="-"/>
              <a:defRPr/>
            </a:pPr>
            <a:r>
              <a:rPr lang="en-US" sz="2400" b="1">
                <a:latin typeface="Consolas"/>
              </a:rPr>
              <a:t>MFA: Mandatory secondary layer of security</a:t>
            </a:r>
          </a:p>
          <a:p>
            <a:pPr marL="285750" indent="-285750">
              <a:buFont typeface="Calibri"/>
              <a:buChar char="-"/>
              <a:defRPr/>
            </a:pPr>
            <a:endParaRPr lang="en-US" b="1">
              <a:latin typeface="Consolas"/>
            </a:endParaRPr>
          </a:p>
          <a:p>
            <a:pPr>
              <a:defRPr/>
            </a:pPr>
            <a:endParaRPr lang="en-US" b="1">
              <a:latin typeface="Consolas"/>
            </a:endParaRPr>
          </a:p>
        </p:txBody>
      </p:sp>
      <p:sp>
        <p:nvSpPr>
          <p:cNvPr id="1723092013" name="TextBox 2"/>
          <p:cNvSpPr txBox="1"/>
          <p:nvPr/>
        </p:nvSpPr>
        <p:spPr bwMode="auto">
          <a:xfrm>
            <a:off x="9564546" y="5555848"/>
            <a:ext cx="23226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>
              <a:defRPr/>
            </a:pPr>
            <a:r>
              <a:rPr lang="en-US" b="1">
                <a:latin typeface="Consolas"/>
              </a:rPr>
              <a:t>Questions?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:fade/>
      </p:transition>
    </mc:Choice>
    <mc:Fallback xmlns:w="http://schemas.openxmlformats.org/wordprocessingml/2006/main" xmlns:m="http://schemas.openxmlformats.org/officeDocument/2006/math" xmlns=""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27562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5327562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27562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15327562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27562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15327562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27562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15327562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3092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"/>
                                        <p:tgtEl>
                                          <p:spTgt spid="17230920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2756280" grpId="0" build="p"/>
      <p:bldP spid="1723092013" grpId="0"/>
    </p:bld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7</Slides>
  <Notes>7</Notes>
  <HiddenSlides>0</HiddenSlides>
  <MMClips>2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Thème Office</vt:lpstr>
      <vt:lpstr>Why Websites Never Save Your Passwords</vt:lpstr>
      <vt:lpstr>The Plaintext Problem</vt:lpstr>
      <vt:lpstr>Hashing Algorithms</vt:lpstr>
      <vt:lpstr>Hashing: The Database View</vt:lpstr>
      <vt:lpstr>Hashing Limitations</vt:lpstr>
      <vt:lpstr>Salting Implementation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181</cp:revision>
  <dcterms:created xsi:type="dcterms:W3CDTF">2012-07-30T22:21:58Z</dcterms:created>
  <dcterms:modified xsi:type="dcterms:W3CDTF">2026-03-28T17:52:06Z</dcterms:modified>
</cp:coreProperties>
</file>