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1" r:id="rId3"/>
    <p:sldId id="264" r:id="rId4"/>
    <p:sldId id="268" r:id="rId5"/>
    <p:sldId id="267" r:id="rId6"/>
    <p:sldId id="270" r:id="rId7"/>
    <p:sldId id="266" r:id="rId8"/>
    <p:sldId id="269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0F040D8-02AF-4AB4-AFE9-5B2F7D21931E}">
          <p14:sldIdLst>
            <p14:sldId id="256"/>
            <p14:sldId id="261"/>
            <p14:sldId id="264"/>
            <p14:sldId id="268"/>
            <p14:sldId id="267"/>
            <p14:sldId id="270"/>
            <p14:sldId id="266"/>
            <p14:sldId id="26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100"/>
    <a:srgbClr val="007500"/>
    <a:srgbClr val="000000"/>
    <a:srgbClr val="FFFFFF"/>
    <a:srgbClr val="00008B"/>
    <a:srgbClr val="660066"/>
    <a:srgbClr val="CC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35AC25-5A48-EBC3-6708-44EE87067F70}" v="2040" dt="2026-03-28T13:07:01.903"/>
    <p1510:client id="{A90BB966-10AA-062C-0D9F-B96EF210B5AC}" v="1012" dt="2026-03-28T17:29:14.4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5DE62C-5220-46EA-9BE3-B45DB196C1A3}" type="datetimeFigureOut">
              <a:t>3/28/2026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9F3D29-5E90-42D2-A1A8-ECEBBDEB87CD}" type="slidenum"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6445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Calibri,Sans-Serif"/>
              <a:buChar char="-"/>
            </a:pPr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F3D29-5E90-42D2-A1A8-ECEBBDEB87CD}" type="slidenum"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0998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8E0D-2460-C689-229E-B9D2ABAB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7BDFF6D-E54D-338D-B2C9-B721ED7EF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ABCDF0B-33F9-C924-11A6-E4F8D64D6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,Sans-Serif"/>
              <a:buChar char="-"/>
            </a:pPr>
            <a:endParaRPr lang="en-US" b="1" dirty="0">
              <a:ea typeface="Calibri"/>
              <a:cs typeface="Calibri"/>
            </a:endParaRPr>
          </a:p>
          <a:p>
            <a:pPr>
              <a:buFont typeface="Calibri,Sans-Serif"/>
              <a:buChar char="-"/>
            </a:pPr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DCA0828-1455-3CCE-D8AA-E5ECE8D60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F3D29-5E90-42D2-A1A8-ECEBBDEB87CD}" type="slidenum"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4113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00CFA-6680-4EEF-7841-70E7348F9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B35AB5-240D-C5E3-BC5A-DDEB371964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8234C0-377D-B543-AC09-4D7ACEE5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,Sans-Serif"/>
              <a:buChar char="-"/>
            </a:pPr>
            <a:endParaRPr lang="en-US" b="1" dirty="0">
              <a:ea typeface="Calibri"/>
              <a:cs typeface="Calibri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572CFBE-1C56-FB78-0FA1-4DB5E86CA0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F3D29-5E90-42D2-A1A8-ECEBBDEB87CD}" type="slidenum"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99943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89929-5A4F-5754-6A7D-FCF0CD0C4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8A3F3D7-DD5D-5F9D-794E-0BF0DC6A5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A5CE36-BB43-4DEB-B4B8-CA3F64B12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,Sans-Serif"/>
              <a:buChar char="-"/>
            </a:pPr>
            <a:endParaRPr lang="en-US" b="1" dirty="0">
              <a:ea typeface="Calibri"/>
              <a:cs typeface="Calibri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9A32671-2B9D-D4C0-2C8E-2043D2601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F3D29-5E90-42D2-A1A8-ECEBBDEB87CD}" type="slidenum"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0945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D476-5991-F7B6-2E8A-B2625F60F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F69176F-50CB-AA02-93B8-B41083538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DB20828-7085-7F9B-6F07-EC131838D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,Sans-Serif"/>
              <a:buChar char="-"/>
            </a:pPr>
            <a:endParaRPr lang="en-US" b="1" dirty="0">
              <a:ea typeface="Calibri"/>
              <a:cs typeface="Calibri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22B832E-2C9F-61A2-B4EF-FC4AA9C39C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F3D29-5E90-42D2-A1A8-ECEBBDEB87CD}" type="slidenum"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9570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B2460-4E1E-6D42-C105-FCF1052E6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38D4E13-F035-7B9C-2686-7A7FD9A28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72EC966-67A5-6566-CC02-035BAF207D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,Sans-Serif"/>
              <a:buChar char="-"/>
            </a:pPr>
            <a:endParaRPr lang="en-US" b="1" dirty="0">
              <a:ea typeface="Calibri"/>
              <a:cs typeface="Calibri"/>
            </a:endParaRPr>
          </a:p>
          <a:p>
            <a:pPr>
              <a:buFont typeface="Calibri,Sans-Serif"/>
              <a:buChar char="-"/>
            </a:pPr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C5205F-9D7B-5DE9-B988-9827BAEB12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F3D29-5E90-42D2-A1A8-ECEBBDEB87CD}" type="slidenum"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6269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37BCA-2EFE-EB47-764C-234218AB1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EF83FFE-E824-9FFF-874C-3E090DC319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8637522-2941-27B2-B4CA-8E900761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>
              <a:ea typeface="Calibri"/>
              <a:cs typeface="Calibri"/>
            </a:endParaRPr>
          </a:p>
          <a:p>
            <a:pPr>
              <a:buFont typeface="Calibri,Sans-Serif"/>
              <a:buChar char="-"/>
            </a:pPr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B7F545-8914-9D30-B59E-472958EA3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F3D29-5E90-42D2-A1A8-ECEBBDEB87CD}" type="slidenum"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177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28/03/2026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89858" y="1122363"/>
            <a:ext cx="11563046" cy="2387600"/>
          </a:xfrm>
        </p:spPr>
        <p:txBody>
          <a:bodyPr>
            <a:normAutofit/>
          </a:bodyPr>
          <a:lstStyle/>
          <a:p>
            <a:pPr algn="l"/>
            <a:r>
              <a:rPr lang="fr-FR" sz="5400" b="1" dirty="0" err="1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Why</a:t>
            </a:r>
            <a:r>
              <a:rPr lang="fr-FR" sz="5400" b="1" dirty="0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 </a:t>
            </a:r>
            <a:r>
              <a:rPr lang="fr-FR" sz="5400" b="1" dirty="0" err="1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Websites</a:t>
            </a:r>
            <a:r>
              <a:rPr lang="fr-FR" sz="5400" b="1" dirty="0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 Never Save</a:t>
            </a:r>
            <a:br>
              <a:rPr lang="fr-FR" sz="5400" b="1" dirty="0">
                <a:latin typeface="Consolas"/>
                <a:ea typeface="+mj-lt"/>
                <a:cs typeface="+mj-lt"/>
              </a:rPr>
            </a:br>
            <a:r>
              <a:rPr lang="fr-FR" sz="5400" b="1" dirty="0" err="1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Your</a:t>
            </a:r>
            <a:r>
              <a:rPr lang="fr-FR" sz="5400" b="1" dirty="0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 </a:t>
            </a:r>
            <a:r>
              <a:rPr lang="fr-FR" sz="5400" b="1" dirty="0" err="1">
                <a:solidFill>
                  <a:srgbClr val="00008B"/>
                </a:solidFill>
                <a:latin typeface="Consolas"/>
                <a:ea typeface="+mj-lt"/>
                <a:cs typeface="+mj-lt"/>
              </a:rPr>
              <a:t>Passwords</a:t>
            </a:r>
            <a:endParaRPr lang="fr-FR" sz="5400" b="1" dirty="0" err="1">
              <a:solidFill>
                <a:srgbClr val="00008B"/>
              </a:solidFill>
              <a:latin typeface="Consolas"/>
              <a:cs typeface="Courier New"/>
            </a:endParaRP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489857" y="3655642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fr-FR" sz="3200" b="1">
                <a:latin typeface="Consolas"/>
                <a:ea typeface="+mn-lt"/>
                <a:cs typeface="+mn-lt"/>
              </a:rPr>
              <a:t>How </a:t>
            </a:r>
            <a:r>
              <a:rPr lang="fr-FR" sz="3200" b="1" err="1">
                <a:latin typeface="Consolas"/>
                <a:ea typeface="+mn-lt"/>
                <a:cs typeface="+mn-lt"/>
              </a:rPr>
              <a:t>authentication</a:t>
            </a:r>
            <a:r>
              <a:rPr lang="fr-FR" sz="3200" b="1">
                <a:latin typeface="Consolas"/>
                <a:ea typeface="+mn-lt"/>
                <a:cs typeface="+mn-lt"/>
              </a:rPr>
              <a:t> </a:t>
            </a:r>
            <a:r>
              <a:rPr lang="fr-FR" sz="3200" b="1" err="1">
                <a:latin typeface="Consolas"/>
                <a:ea typeface="+mn-lt"/>
                <a:cs typeface="+mn-lt"/>
              </a:rPr>
              <a:t>works</a:t>
            </a:r>
            <a:r>
              <a:rPr lang="fr-FR" sz="3200" b="1">
                <a:latin typeface="Consolas"/>
                <a:ea typeface="+mn-lt"/>
                <a:cs typeface="+mn-lt"/>
              </a:rPr>
              <a:t> in the backend</a:t>
            </a:r>
          </a:p>
        </p:txBody>
      </p:sp>
      <p:pic>
        <p:nvPicPr>
          <p:cNvPr id="5" name="Picture 4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C743F170-A794-DDBB-8BFB-2DF0E8F5D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1AD315B-DFEA-F214-3733-B71405775188}"/>
              </a:ext>
            </a:extLst>
          </p:cNvPr>
          <p:cNvCxnSpPr/>
          <p:nvPr/>
        </p:nvCxnSpPr>
        <p:spPr>
          <a:xfrm>
            <a:off x="581380" y="4393132"/>
            <a:ext cx="8689615" cy="44029"/>
          </a:xfrm>
          <a:prstGeom prst="straightConnector1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5F4E29-2361-E601-D414-50B65910AA58}"/>
              </a:ext>
            </a:extLst>
          </p:cNvPr>
          <p:cNvSpPr txBox="1"/>
          <p:nvPr/>
        </p:nvSpPr>
        <p:spPr>
          <a:xfrm>
            <a:off x="-936" y="6489382"/>
            <a:ext cx="76473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latin typeface="Consolas"/>
              </a:rPr>
              <a:t>&gt;  Author: Arnaud Gomes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1A28C-ACF1-4EC0-0F84-3F3957596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EF060B-7992-7B88-C0A8-71DF8EEEFA7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r>
              <a:rPr lang="fr-FR" b="1">
                <a:latin typeface="Consolas"/>
                <a:cs typeface="Courier New"/>
              </a:rPr>
              <a:t>The </a:t>
            </a:r>
            <a:r>
              <a:rPr lang="fr-FR" b="1" err="1">
                <a:latin typeface="Consolas"/>
                <a:cs typeface="Courier New"/>
              </a:rPr>
              <a:t>Plaintext</a:t>
            </a:r>
            <a:r>
              <a:rPr lang="fr-FR" b="1">
                <a:latin typeface="Consolas"/>
                <a:cs typeface="Courier New"/>
              </a:rPr>
              <a:t> </a:t>
            </a:r>
            <a:r>
              <a:rPr lang="fr-FR" b="1" err="1">
                <a:latin typeface="Consolas"/>
                <a:cs typeface="Courier New"/>
              </a:rPr>
              <a:t>Problem</a:t>
            </a:r>
          </a:p>
        </p:txBody>
      </p:sp>
      <p:pic>
        <p:nvPicPr>
          <p:cNvPr id="17" name="Picture 16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D6834974-FAF5-B955-AF99-37309BE16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CD8E5C3C-A163-3101-FDFA-A42B2EEFEF80}"/>
              </a:ext>
            </a:extLst>
          </p:cNvPr>
          <p:cNvSpPr txBox="1"/>
          <p:nvPr/>
        </p:nvSpPr>
        <p:spPr>
          <a:xfrm>
            <a:off x="5052558" y="2121219"/>
            <a:ext cx="6959926" cy="27699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Exact input = Exact database record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One breach = Total Database Compromise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NEVER leave passwords in plaintext</a:t>
            </a: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endParaRPr lang="en-US" b="1">
              <a:latin typeface="Consolas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E9E5DB6-2AD3-E0BB-A0EE-B4A15BA131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427801"/>
              </p:ext>
            </p:extLst>
          </p:nvPr>
        </p:nvGraphicFramePr>
        <p:xfrm>
          <a:off x="1085157" y="1640240"/>
          <a:ext cx="3799244" cy="3485787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888789">
                  <a:extLst>
                    <a:ext uri="{9D8B030D-6E8A-4147-A177-3AD203B41FA5}">
                      <a16:colId xmlns:a16="http://schemas.microsoft.com/office/drawing/2014/main" val="54938029"/>
                    </a:ext>
                  </a:extLst>
                </a:gridCol>
                <a:gridCol w="1910455">
                  <a:extLst>
                    <a:ext uri="{9D8B030D-6E8A-4147-A177-3AD203B41FA5}">
                      <a16:colId xmlns:a16="http://schemas.microsoft.com/office/drawing/2014/main" val="1290070235"/>
                    </a:ext>
                  </a:extLst>
                </a:gridCol>
              </a:tblGrid>
              <a:tr h="1161929"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Password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3469212"/>
                  </a:ext>
                </a:extLst>
              </a:tr>
              <a:tr h="116192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/>
                        <a:t>admin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admin67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796194"/>
                  </a:ext>
                </a:extLst>
              </a:tr>
              <a:tr h="1161929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charl</a:t>
                      </a:r>
                      <a:r>
                        <a:rPr lang="en-US"/>
                        <a:t>ie</a:t>
                      </a:r>
                      <a:endParaRPr lang="en-US" err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85625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FFE14EC5-43B0-11D1-90C1-17D814CBE24A}"/>
              </a:ext>
            </a:extLst>
          </p:cNvPr>
          <p:cNvSpPr/>
          <p:nvPr/>
        </p:nvSpPr>
        <p:spPr>
          <a:xfrm>
            <a:off x="2993507" y="1644355"/>
            <a:ext cx="1897723" cy="348564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0670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1C332-519A-F372-7F8A-63EC46538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11A8A5-0494-2E78-7ACD-E2361183A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r>
              <a:rPr lang="fr-FR" b="1" dirty="0" err="1">
                <a:latin typeface="Consolas"/>
                <a:cs typeface="Courier New"/>
              </a:rPr>
              <a:t>Hashing</a:t>
            </a:r>
            <a:r>
              <a:rPr lang="fr-FR" b="1" dirty="0">
                <a:latin typeface="Consolas"/>
                <a:cs typeface="Courier New"/>
              </a:rPr>
              <a:t> </a:t>
            </a:r>
            <a:r>
              <a:rPr lang="fr-FR" b="1" dirty="0" err="1">
                <a:latin typeface="Consolas"/>
                <a:cs typeface="Courier New"/>
              </a:rPr>
              <a:t>Algorithms</a:t>
            </a:r>
          </a:p>
        </p:txBody>
      </p:sp>
      <p:pic>
        <p:nvPicPr>
          <p:cNvPr id="17" name="Picture 16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11517CA6-59AD-F9FA-54BE-69502BBD5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078DDADF-406F-D617-8BD0-F8C74D14B639}"/>
              </a:ext>
            </a:extLst>
          </p:cNvPr>
          <p:cNvSpPr txBox="1"/>
          <p:nvPr/>
        </p:nvSpPr>
        <p:spPr>
          <a:xfrm>
            <a:off x="407512" y="1632293"/>
            <a:ext cx="10256829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One-way mathematical function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Fixed-length</a:t>
            </a:r>
            <a:r>
              <a:rPr lang="en-US" sz="2400" b="1">
                <a:latin typeface="Consolas"/>
                <a:ea typeface="+mn-lt"/>
                <a:cs typeface="+mn-lt"/>
              </a:rPr>
              <a:t>, chaotic string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Compare hashes, never see the password</a:t>
            </a: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endParaRPr lang="en-US" b="1">
              <a:latin typeface="Consolas"/>
            </a:endParaRPr>
          </a:p>
        </p:txBody>
      </p:sp>
      <p:pic>
        <p:nvPicPr>
          <p:cNvPr id="7" name="Picture 6" descr="A diagram of a road&#10;&#10;AI-generated content may be incorrect.">
            <a:extLst>
              <a:ext uri="{FF2B5EF4-FFF2-40B4-BE49-F238E27FC236}">
                <a16:creationId xmlns:a16="http://schemas.microsoft.com/office/drawing/2014/main" id="{B739044B-5AF3-4D45-694D-04D5EC4452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952" t="31703" r="7122" b="15981"/>
          <a:stretch>
            <a:fillRect/>
          </a:stretch>
        </p:blipFill>
        <p:spPr>
          <a:xfrm>
            <a:off x="2963492" y="3777649"/>
            <a:ext cx="5745455" cy="24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815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1DACB-D65A-1068-700D-A7D77E8FF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C53B9-A97A-6148-18E7-A1024D0EF6C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r>
              <a:rPr lang="fr-FR" b="1" err="1">
                <a:latin typeface="Consolas"/>
                <a:ea typeface="+mj-lt"/>
                <a:cs typeface="Courier New"/>
              </a:rPr>
              <a:t>Hashing</a:t>
            </a:r>
            <a:r>
              <a:rPr lang="fr-FR" b="1">
                <a:latin typeface="Consolas"/>
                <a:ea typeface="+mj-lt"/>
                <a:cs typeface="Courier New"/>
              </a:rPr>
              <a:t>: The </a:t>
            </a:r>
            <a:r>
              <a:rPr lang="fr-FR" b="1" err="1">
                <a:latin typeface="Consolas"/>
                <a:ea typeface="+mj-lt"/>
                <a:cs typeface="Courier New"/>
              </a:rPr>
              <a:t>Database</a:t>
            </a:r>
            <a:r>
              <a:rPr lang="fr-FR" b="1">
                <a:latin typeface="Consolas"/>
                <a:ea typeface="+mj-lt"/>
                <a:cs typeface="Courier New"/>
              </a:rPr>
              <a:t> </a:t>
            </a:r>
            <a:r>
              <a:rPr lang="fr-FR" b="1" err="1">
                <a:latin typeface="Consolas"/>
                <a:ea typeface="+mj-lt"/>
                <a:cs typeface="Courier New"/>
              </a:rPr>
              <a:t>View</a:t>
            </a:r>
            <a:endParaRPr lang="fr-FR" err="1">
              <a:latin typeface="Aptos Display"/>
              <a:ea typeface="+mj-lt"/>
              <a:cs typeface="Courier New"/>
            </a:endParaRPr>
          </a:p>
        </p:txBody>
      </p:sp>
      <p:pic>
        <p:nvPicPr>
          <p:cNvPr id="17" name="Picture 16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18FD51C6-885C-7DF8-9B92-7C4771B9D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2E397F01-C11F-868D-2AE8-10C3EB9A737A}"/>
              </a:ext>
            </a:extLst>
          </p:cNvPr>
          <p:cNvSpPr txBox="1"/>
          <p:nvPr/>
        </p:nvSpPr>
        <p:spPr>
          <a:xfrm>
            <a:off x="5424899" y="2355015"/>
            <a:ext cx="6639541" cy="27699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Plaintext exists ONLY in RAM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Database stores ONLY the hash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Match input hash vs. stored hash</a:t>
            </a: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endParaRPr lang="en-US" b="1">
              <a:latin typeface="Consolas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42C2ADC-CFD5-CD3B-B235-A167B3BB54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341041"/>
              </p:ext>
            </p:extLst>
          </p:nvPr>
        </p:nvGraphicFramePr>
        <p:xfrm>
          <a:off x="606093" y="1884594"/>
          <a:ext cx="4401418" cy="43065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226001">
                  <a:extLst>
                    <a:ext uri="{9D8B030D-6E8A-4147-A177-3AD203B41FA5}">
                      <a16:colId xmlns:a16="http://schemas.microsoft.com/office/drawing/2014/main" val="54938029"/>
                    </a:ext>
                  </a:extLst>
                </a:gridCol>
                <a:gridCol w="1705737">
                  <a:extLst>
                    <a:ext uri="{9D8B030D-6E8A-4147-A177-3AD203B41FA5}">
                      <a16:colId xmlns:a16="http://schemas.microsoft.com/office/drawing/2014/main" val="1290070235"/>
                    </a:ext>
                  </a:extLst>
                </a:gridCol>
                <a:gridCol w="1469680">
                  <a:extLst>
                    <a:ext uri="{9D8B030D-6E8A-4147-A177-3AD203B41FA5}">
                      <a16:colId xmlns:a16="http://schemas.microsoft.com/office/drawing/2014/main" val="2782693283"/>
                    </a:ext>
                  </a:extLst>
                </a:gridCol>
              </a:tblGrid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Password</a:t>
                      </a:r>
                      <a:br>
                        <a:rPr lang="en-US" b="1" i="0">
                          <a:latin typeface="Consolas"/>
                        </a:rPr>
                      </a:br>
                      <a:r>
                        <a:rPr lang="en-US" b="1" i="0">
                          <a:latin typeface="Consolas"/>
                        </a:rPr>
                        <a:t>(Plaintext)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(Hashed)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3469212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/>
                        <a:t>admin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>
                          <a:latin typeface="Consolas"/>
                        </a:rPr>
                        <a:t>admin67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5897cfa...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796194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charlie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 u="none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f6d4692...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8562511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err="1"/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Consolas"/>
                        </a:rPr>
                        <a:t>f6d4692...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8915838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bob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 err="1">
                          <a:latin typeface="Consolas"/>
                        </a:rPr>
                        <a:t>p@ssword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0fd2059...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6163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5E35588C-9BDE-0620-8525-877E157754A2}"/>
              </a:ext>
            </a:extLst>
          </p:cNvPr>
          <p:cNvSpPr/>
          <p:nvPr/>
        </p:nvSpPr>
        <p:spPr>
          <a:xfrm>
            <a:off x="1816991" y="1896745"/>
            <a:ext cx="1719157" cy="431912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E5E72A-E96C-598B-0A73-8D6B48BA5C06}"/>
              </a:ext>
            </a:extLst>
          </p:cNvPr>
          <p:cNvSpPr txBox="1"/>
          <p:nvPr/>
        </p:nvSpPr>
        <p:spPr>
          <a:xfrm>
            <a:off x="1817261" y="1522658"/>
            <a:ext cx="173554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b="1">
                <a:solidFill>
                  <a:srgbClr val="FF0000"/>
                </a:solidFill>
                <a:latin typeface="Consolas"/>
              </a:rPr>
              <a:t>RAM ONLY</a:t>
            </a:r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11764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A5C3-E77E-54AB-E9FF-6BF282B2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3504D3-FF66-0F5B-5441-4638308848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r>
              <a:rPr lang="fr-FR" b="1" dirty="0" err="1">
                <a:latin typeface="Consolas"/>
                <a:ea typeface="+mj-lt"/>
                <a:cs typeface="Courier New"/>
              </a:rPr>
              <a:t>Hashing</a:t>
            </a:r>
            <a:r>
              <a:rPr lang="fr-FR" b="1" dirty="0">
                <a:latin typeface="Consolas"/>
                <a:ea typeface="+mj-lt"/>
                <a:cs typeface="Courier New"/>
              </a:rPr>
              <a:t> Limitations</a:t>
            </a:r>
          </a:p>
        </p:txBody>
      </p:sp>
      <p:pic>
        <p:nvPicPr>
          <p:cNvPr id="17" name="Picture 16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D6A0CA11-671D-1D09-2B48-3E0D5C286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FA324728-FADC-E401-06D0-54CD1E0E9DE0}"/>
              </a:ext>
            </a:extLst>
          </p:cNvPr>
          <p:cNvSpPr txBox="1"/>
          <p:nvPr/>
        </p:nvSpPr>
        <p:spPr>
          <a:xfrm>
            <a:off x="4865834" y="2264650"/>
            <a:ext cx="720615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Deterministic, Same input = Same output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Identical passwords are exposed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"Rainbow Tables", dictionaries with common passwords and </a:t>
            </a:r>
            <a:r>
              <a:rPr lang="en-US" sz="2400" b="1" err="1">
                <a:latin typeface="Consolas"/>
              </a:rPr>
              <a:t>their</a:t>
            </a:r>
            <a:r>
              <a:rPr lang="en-US" sz="2400" b="1">
                <a:latin typeface="Consolas"/>
              </a:rPr>
              <a:t> hashes</a:t>
            </a: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endParaRPr lang="en-US" b="1">
              <a:latin typeface="Consolas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FEBFF7A-2B2E-DA10-740E-C17172259B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135146"/>
              </p:ext>
            </p:extLst>
          </p:nvPr>
        </p:nvGraphicFramePr>
        <p:xfrm>
          <a:off x="352094" y="1630594"/>
          <a:ext cx="4401418" cy="43065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226001">
                  <a:extLst>
                    <a:ext uri="{9D8B030D-6E8A-4147-A177-3AD203B41FA5}">
                      <a16:colId xmlns:a16="http://schemas.microsoft.com/office/drawing/2014/main" val="54938029"/>
                    </a:ext>
                  </a:extLst>
                </a:gridCol>
                <a:gridCol w="1705737">
                  <a:extLst>
                    <a:ext uri="{9D8B030D-6E8A-4147-A177-3AD203B41FA5}">
                      <a16:colId xmlns:a16="http://schemas.microsoft.com/office/drawing/2014/main" val="1290070235"/>
                    </a:ext>
                  </a:extLst>
                </a:gridCol>
                <a:gridCol w="1469680">
                  <a:extLst>
                    <a:ext uri="{9D8B030D-6E8A-4147-A177-3AD203B41FA5}">
                      <a16:colId xmlns:a16="http://schemas.microsoft.com/office/drawing/2014/main" val="2782693283"/>
                    </a:ext>
                  </a:extLst>
                </a:gridCol>
              </a:tblGrid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Password</a:t>
                      </a:r>
                      <a:br>
                        <a:rPr lang="en-US" b="1" i="0">
                          <a:latin typeface="Consolas"/>
                        </a:rPr>
                      </a:br>
                      <a:r>
                        <a:rPr lang="en-US" b="1" i="0">
                          <a:latin typeface="Consolas"/>
                        </a:rPr>
                        <a:t>(Plaintext)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(Hashed)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3469212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/>
                        <a:t>admin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>
                          <a:latin typeface="Consolas"/>
                        </a:rPr>
                        <a:t>admin67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5897cfa...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796194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charlie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f6d4692...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8562511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err="1"/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Consolas"/>
                        </a:rPr>
                        <a:t>f6d4692...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8915838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bob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 err="1">
                          <a:latin typeface="Consolas"/>
                        </a:rPr>
                        <a:t>p@ssword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0fd2059...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61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39331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1A073-6602-FE87-4B12-674885F7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3705EA-94CB-8A79-9B01-238609AF587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r>
              <a:rPr lang="fr-FR" b="1" dirty="0" err="1">
                <a:latin typeface="Consolas"/>
                <a:ea typeface="+mj-lt"/>
                <a:cs typeface="Courier New"/>
              </a:rPr>
              <a:t>Hashing</a:t>
            </a:r>
            <a:r>
              <a:rPr lang="fr-FR" b="1" dirty="0">
                <a:latin typeface="Consolas"/>
                <a:ea typeface="+mj-lt"/>
                <a:cs typeface="Courier New"/>
              </a:rPr>
              <a:t> Limitations</a:t>
            </a:r>
          </a:p>
        </p:txBody>
      </p:sp>
      <p:pic>
        <p:nvPicPr>
          <p:cNvPr id="17" name="Picture 16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C71B5CAD-02C3-2C60-D890-E1E3F2F05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6B60F715-128D-C3F1-A4D2-995BE3E56EDF}"/>
              </a:ext>
            </a:extLst>
          </p:cNvPr>
          <p:cNvSpPr txBox="1"/>
          <p:nvPr/>
        </p:nvSpPr>
        <p:spPr>
          <a:xfrm>
            <a:off x="4865834" y="2264650"/>
            <a:ext cx="720615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Deterministic, Same input = Same output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Identical passwords are exposed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"Rainbow Tables", dictionaries with common passwords and </a:t>
            </a:r>
            <a:r>
              <a:rPr lang="en-US" sz="2400" b="1" err="1">
                <a:latin typeface="Consolas"/>
              </a:rPr>
              <a:t>their</a:t>
            </a:r>
            <a:r>
              <a:rPr lang="en-US" sz="2400" b="1">
                <a:latin typeface="Consolas"/>
              </a:rPr>
              <a:t> hashes</a:t>
            </a: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endParaRPr lang="en-US" b="1">
              <a:latin typeface="Consolas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C182AF-F41F-37E2-A033-49F17584A68C}"/>
              </a:ext>
            </a:extLst>
          </p:cNvPr>
          <p:cNvGraphicFramePr>
            <a:graphicFrameLocks noGrp="1"/>
          </p:cNvGraphicFramePr>
          <p:nvPr/>
        </p:nvGraphicFramePr>
        <p:xfrm>
          <a:off x="352094" y="1630594"/>
          <a:ext cx="4401418" cy="43065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226001">
                  <a:extLst>
                    <a:ext uri="{9D8B030D-6E8A-4147-A177-3AD203B41FA5}">
                      <a16:colId xmlns:a16="http://schemas.microsoft.com/office/drawing/2014/main" val="54938029"/>
                    </a:ext>
                  </a:extLst>
                </a:gridCol>
                <a:gridCol w="1705737">
                  <a:extLst>
                    <a:ext uri="{9D8B030D-6E8A-4147-A177-3AD203B41FA5}">
                      <a16:colId xmlns:a16="http://schemas.microsoft.com/office/drawing/2014/main" val="1290070235"/>
                    </a:ext>
                  </a:extLst>
                </a:gridCol>
                <a:gridCol w="1469680">
                  <a:extLst>
                    <a:ext uri="{9D8B030D-6E8A-4147-A177-3AD203B41FA5}">
                      <a16:colId xmlns:a16="http://schemas.microsoft.com/office/drawing/2014/main" val="2782693283"/>
                    </a:ext>
                  </a:extLst>
                </a:gridCol>
              </a:tblGrid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Password</a:t>
                      </a:r>
                      <a:br>
                        <a:rPr lang="en-US" b="1" i="0">
                          <a:latin typeface="Consolas"/>
                        </a:rPr>
                      </a:br>
                      <a:r>
                        <a:rPr lang="en-US" b="1" i="0">
                          <a:latin typeface="Consolas"/>
                        </a:rPr>
                        <a:t>(Plaintext)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(Hashed)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3469212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/>
                        <a:t>admin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>
                          <a:latin typeface="Consolas"/>
                        </a:rPr>
                        <a:t>admin67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5897cfa...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796194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charlie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f6d4692...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8562511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err="1"/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Consolas"/>
                        </a:rPr>
                        <a:t>f6d4692...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8915838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bob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 err="1">
                          <a:latin typeface="Consolas"/>
                        </a:rPr>
                        <a:t>p@ssword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0fd2059...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6163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CA88A34-F44E-D64C-0993-CEE9BE060A67}"/>
              </a:ext>
            </a:extLst>
          </p:cNvPr>
          <p:cNvSpPr/>
          <p:nvPr/>
        </p:nvSpPr>
        <p:spPr>
          <a:xfrm>
            <a:off x="351389" y="3337044"/>
            <a:ext cx="4389677" cy="172916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6139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26F50-65D4-C1F1-E176-FE69217C2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2AC36-302E-C3B4-7689-1487FF246C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r>
              <a:rPr lang="fr-FR" b="1" dirty="0" err="1">
                <a:latin typeface="Consolas"/>
                <a:cs typeface="Courier New"/>
              </a:rPr>
              <a:t>Salting</a:t>
            </a:r>
            <a:r>
              <a:rPr lang="fr-FR" b="1" dirty="0">
                <a:latin typeface="Consolas"/>
                <a:cs typeface="Courier New"/>
              </a:rPr>
              <a:t> </a:t>
            </a:r>
            <a:r>
              <a:rPr lang="fr-FR" b="1" dirty="0" err="1">
                <a:latin typeface="Consolas"/>
                <a:cs typeface="Courier New"/>
              </a:rPr>
              <a:t>Implementation</a:t>
            </a:r>
          </a:p>
        </p:txBody>
      </p:sp>
      <p:pic>
        <p:nvPicPr>
          <p:cNvPr id="17" name="Picture 16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2319F35F-D7A4-B67D-0735-F648C852B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F5E24FB7-EADF-AEEE-C99E-839CE046F050}"/>
              </a:ext>
            </a:extLst>
          </p:cNvPr>
          <p:cNvSpPr txBox="1"/>
          <p:nvPr/>
        </p:nvSpPr>
        <p:spPr>
          <a:xfrm>
            <a:off x="6230194" y="2112560"/>
            <a:ext cx="5894860" cy="3508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400" b="1" dirty="0">
                <a:latin typeface="Consolas"/>
              </a:rPr>
              <a:t>Password + Unique </a:t>
            </a:r>
            <a:r>
              <a:rPr lang="en-US" sz="2400" b="1">
                <a:latin typeface="Consolas"/>
              </a:rPr>
              <a:t>Random Salt</a:t>
            </a:r>
            <a:endParaRPr lang="en-US"/>
          </a:p>
          <a:p>
            <a:r>
              <a:rPr lang="en-US" sz="2400" b="1">
                <a:latin typeface="Consolas"/>
              </a:rPr>
              <a:t>  = </a:t>
            </a:r>
            <a:r>
              <a:rPr lang="en-US" sz="2400" b="1" dirty="0">
                <a:latin typeface="Consolas"/>
              </a:rPr>
              <a:t>Hash</a:t>
            </a:r>
            <a:endParaRPr lang="en-US"/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Salt saved alongside the hash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Identical passwords, different hashes</a:t>
            </a:r>
          </a:p>
          <a:p>
            <a:endParaRPr lang="en-US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endParaRPr lang="en-US" b="1">
              <a:latin typeface="Consolas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57C25F1-4405-46C7-8A31-53F06E1C6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912"/>
              </p:ext>
            </p:extLst>
          </p:nvPr>
        </p:nvGraphicFramePr>
        <p:xfrm>
          <a:off x="438685" y="1717185"/>
          <a:ext cx="5718604" cy="43065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194155">
                  <a:extLst>
                    <a:ext uri="{9D8B030D-6E8A-4147-A177-3AD203B41FA5}">
                      <a16:colId xmlns:a16="http://schemas.microsoft.com/office/drawing/2014/main" val="54938029"/>
                    </a:ext>
                  </a:extLst>
                </a:gridCol>
                <a:gridCol w="1661433">
                  <a:extLst>
                    <a:ext uri="{9D8B030D-6E8A-4147-A177-3AD203B41FA5}">
                      <a16:colId xmlns:a16="http://schemas.microsoft.com/office/drawing/2014/main" val="1290070235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5889446"/>
                    </a:ext>
                  </a:extLst>
                </a:gridCol>
                <a:gridCol w="1643816">
                  <a:extLst>
                    <a:ext uri="{9D8B030D-6E8A-4147-A177-3AD203B41FA5}">
                      <a16:colId xmlns:a16="http://schemas.microsoft.com/office/drawing/2014/main" val="2782693283"/>
                    </a:ext>
                  </a:extLst>
                </a:gridCol>
              </a:tblGrid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>
                          <a:latin typeface="Consolas"/>
                        </a:rPr>
                        <a:t>Password</a:t>
                      </a:r>
                      <a:br>
                        <a:rPr lang="en-US" b="1" i="0" dirty="0">
                          <a:latin typeface="Consolas"/>
                        </a:rPr>
                      </a:br>
                      <a:r>
                        <a:rPr lang="en-US" b="1" i="0">
                          <a:latin typeface="Consolas"/>
                        </a:rPr>
                        <a:t>(Plaintext)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Salt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Password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1" i="0">
                          <a:latin typeface="Consolas"/>
                        </a:rPr>
                        <a:t>(Hashed)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3469212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/>
                        <a:t>admin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>
                          <a:latin typeface="Consolas"/>
                        </a:rPr>
                        <a:t>admin67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8xF2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b3664aba...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796194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charlie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1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a7d9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34b60fbf...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8562511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err="1"/>
                        <a:t>alice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>
                          <a:latin typeface="Consolas"/>
                        </a:rPr>
                        <a:t>cats123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Consolas"/>
                        </a:rPr>
                        <a:t>1yZ5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Consolas"/>
                        </a:rPr>
                        <a:t>46346c13...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8915838"/>
                  </a:ext>
                </a:extLst>
              </a:tr>
              <a:tr h="86131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bob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0" i="1" dirty="0" err="1">
                          <a:latin typeface="Consolas"/>
                        </a:rPr>
                        <a:t>p@ssword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3mK8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latin typeface="Consolas"/>
                        </a:rPr>
                        <a:t>4e00b7af...</a:t>
                      </a:r>
                      <a:endParaRPr lang="en-US" b="1" i="0">
                        <a:latin typeface="Consola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6163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C3C8D15-5203-BF83-A297-692B680002B4}"/>
              </a:ext>
            </a:extLst>
          </p:cNvPr>
          <p:cNvSpPr/>
          <p:nvPr/>
        </p:nvSpPr>
        <p:spPr>
          <a:xfrm>
            <a:off x="438199" y="3423854"/>
            <a:ext cx="5720765" cy="1729166"/>
          </a:xfrm>
          <a:prstGeom prst="rect">
            <a:avLst/>
          </a:prstGeom>
          <a:noFill/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4949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7960B-7C03-8BE9-D979-8DE36C8F2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95CD4E-3B42-FC20-7E78-ABD4FD92103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8343" y="307068"/>
            <a:ext cx="10515600" cy="1325563"/>
          </a:xfrm>
        </p:spPr>
        <p:txBody>
          <a:bodyPr>
            <a:normAutofit/>
          </a:bodyPr>
          <a:lstStyle/>
          <a:p>
            <a:r>
              <a:rPr lang="fr-FR" b="1" dirty="0" err="1">
                <a:latin typeface="Consolas"/>
                <a:cs typeface="Courier New"/>
              </a:rPr>
              <a:t>Summary</a:t>
            </a:r>
          </a:p>
        </p:txBody>
      </p:sp>
      <p:pic>
        <p:nvPicPr>
          <p:cNvPr id="17" name="Picture 16" descr="A black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00ADEA35-524B-A7BF-1435-78B895A29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492" y="-244021"/>
            <a:ext cx="1242786" cy="1206501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808BC27D-3B54-D0F4-39A2-08AF1AEF706B}"/>
              </a:ext>
            </a:extLst>
          </p:cNvPr>
          <p:cNvSpPr txBox="1"/>
          <p:nvPr/>
        </p:nvSpPr>
        <p:spPr>
          <a:xfrm>
            <a:off x="350671" y="1644969"/>
            <a:ext cx="10977746" cy="32316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Calibri"/>
              <a:buChar char="-"/>
            </a:pPr>
            <a:r>
              <a:rPr lang="en-US" sz="2400" b="1">
                <a:latin typeface="Consolas"/>
              </a:rPr>
              <a:t>Never store raw passwords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Hashing: One-way mathematical signature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 dirty="0">
                <a:latin typeface="Consolas"/>
              </a:rPr>
              <a:t>Salting: Guarantees uni</a:t>
            </a:r>
            <a:r>
              <a:rPr lang="en-US" sz="2400" b="1">
                <a:latin typeface="Consolas"/>
              </a:rPr>
              <a:t>que values for every user</a:t>
            </a:r>
            <a:endParaRPr lang="en-US"/>
          </a:p>
          <a:p>
            <a:pPr marL="285750" indent="-285750">
              <a:buFont typeface="Calibri"/>
              <a:buChar char="-"/>
            </a:pP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2400" b="1">
                <a:latin typeface="Consolas"/>
              </a:rPr>
              <a:t>MFA: Mandatory secondary layer of security</a:t>
            </a:r>
            <a:endParaRPr lang="en-US" sz="2400" b="1" dirty="0">
              <a:latin typeface="Consolas"/>
            </a:endParaRPr>
          </a:p>
          <a:p>
            <a:pPr marL="285750" indent="-285750">
              <a:buFont typeface="Calibri"/>
              <a:buChar char="-"/>
            </a:pPr>
            <a:endParaRPr lang="en-US" b="1">
              <a:latin typeface="Consolas"/>
            </a:endParaRPr>
          </a:p>
          <a:p>
            <a:endParaRPr lang="en-US" b="1">
              <a:latin typeface="Consola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F12F60-35AE-79A0-A945-93DC93E509EC}"/>
              </a:ext>
            </a:extLst>
          </p:cNvPr>
          <p:cNvSpPr txBox="1"/>
          <p:nvPr/>
        </p:nvSpPr>
        <p:spPr>
          <a:xfrm>
            <a:off x="9564546" y="5555848"/>
            <a:ext cx="23226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>
                <a:latin typeface="Consolas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4573078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Thème Office</vt:lpstr>
      <vt:lpstr>Why Websites Never Save Your Passwords</vt:lpstr>
      <vt:lpstr>The Plaintext Problem</vt:lpstr>
      <vt:lpstr>Hashing Algorithms</vt:lpstr>
      <vt:lpstr>Hashing: The Database View</vt:lpstr>
      <vt:lpstr>Hashing Limitations</vt:lpstr>
      <vt:lpstr>Hashing Limitations</vt:lpstr>
      <vt:lpstr>Salting Implementation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177</cp:revision>
  <dcterms:created xsi:type="dcterms:W3CDTF">2012-07-30T22:21:58Z</dcterms:created>
  <dcterms:modified xsi:type="dcterms:W3CDTF">2026-03-28T17:30:46Z</dcterms:modified>
</cp:coreProperties>
</file>